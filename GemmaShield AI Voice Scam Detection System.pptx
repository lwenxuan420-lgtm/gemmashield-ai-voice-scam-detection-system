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presProps.xml" Type="http://schemas.openxmlformats.org/officeDocument/2006/relationships/pres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slideMasters/slideMaster1.xml" Type="http://schemas.openxmlformats.org/officeDocument/2006/relationships/slideMaster"/><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44" Target="notesSlides/notesSlide18.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向大家介绍我的项目——GemmaShield，一个旨在保护老年人免受AI语音诈骗的智能检测系统。随着AI语音克隆技术的发展，诈骗手段日益逼真，本项目致力于利用AI技术对抗AI犯罪，为弱势群体构建一道安全防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报告将分为四个部分。首先，我会介绍项目的背景和动机；接着，详细解析GemmaShield的系统架构与核心技术；然后，分享我们在实验过程中的发现，特别是关于模型鲁棒性的挑战；最后，展示项目的应用、社会影响以及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正面临一个严峻的挑战：AI语音克隆技术的飞速发展，使得诈骗电话变得前所未有的逼真，尤其对老年群体构成了巨大威胁。现有的检测技术在实验室环境下表现优异，但在充满噪音和各种干扰的真实世界中却常常失灵。因此，GemmaShield应运而生，旨在弥合实验室与现实的差距，打造真正能保护弱势群体的AI安全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emmaShield的目标非常明确。首先，它要能准确检测出AI生成的伪造声音。其次，通过LLM的推理能力，分析通话内容，判断诈骗风险。更重要的是，它要能为老年人提供易于理解的解释，告诉他们为什么这个电话可能有危险。同时，我们也致力于研究模型在真实世界中的鲁棒性，并探索多模态AI安全系统的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GemmaShield的系统架构图。整个流程是一个多模态AI管道。首先，音频输入被送入CNN模型进行语音伪造检测。同时，音频也会通过Faster-Whisper进行语音识别，转换成文本。然后，语音伪造的概率和文本内容一起被送入Gemma4进行推理分析。最后，系统生成一份对老年人友好的安全分析报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集成了多种前沿技术。核心的语音伪造检测由CNN模型完成，它通过分析Log-Mel频谱图来判断声音真伪。Faster-Whisper负责高效地将语音转为文字。Google的Gemma4大语言模型则扮演了智能分析师的角色，对文本内容进行深度推理。整个前端由Gradio构建，并部署在HuggingFace Spaces上，方便用户访问。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核心检测模型是一个CNN网络。在训练阶段，我们使用了包含约11万个干净样本的ASVspoof数据集。在标准的基准测试中，模型表现非常出色，等错误率（EER）低至0.00134，这表明在理想的实验室环境下，它几乎可以完美地检测出伪造语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然而，现实给了我们一记警钟。当我们将模型应用于真实世界的录音时，性能急剧下降。我们手动收集了约100个包含噪音、电话音质、压缩等各种复杂情况的真实样本，直接训练后，模型的EER飙升到了0.30。这张图表清晰地展示了实验室数据与真实世界数据之间存在巨大的领域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解决数据量不足的问题，我们设计了一套自定义的数据增强流程，通过添加噪音、改变音调、模拟重放等方式，将100个真实样本扩充到了约5万个。接着，我们采用了迁移学习策略，利用在ASVspoof上预训练好的模型，冻结部分层后，在增强后的数据集上进行微调。这一系列操作显著提升了模型性能，将EER降低到了0.03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个项目最重要的发现之一是：极低的基准测试EER并不能保证真实世界的鲁棒性。我们发现，微调后的模型虽然EER很低，但它只是学会了识别我们增强数据集中的“真实感”特征，而不是真正学会了泛化的伪造模式。当遇到新的、未见过的伪造语音时，它的表现依然不佳。因此，我们最终决定放弃有问题的微调，回归到泛化能力更强的基准模型进行部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emma4的集成是本项目的点睛之笔。传统的检测系统只会给出一个冰冷的概率分数，用户无法理解背后的原因。而GemmaShield通过结合语音识别文本和伪造概率，让Gemma4进行推理，生成如“诈骗可能性：中等，建议：汇款前核实对方身份”这样通俗易懂的建议。这使得我们的系统从一个简单的“分类器”升级为一个真正的“AI安全助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由于系统的目标用户是老年人，易用性是我们设计的重中之重。我们不仅追求检测的准确性，更希望帮助老年人理解风险所在。因此，我们的界面采用了大字体、简化的按钮、中英双语支持以及清晰易懂的AI解释。我们的目标是让科技真正服务于老年人，而不是成为他们的负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GemmaShield集成了语音伪造检测、AI诈骗推理、语音转文字、可解释系统、老年友好界面、双语支持等一系列核心功能。它已经成功部署在HuggingFace上，支持实时音频上传，并且经过优化，可以在CPU环境下运行，保证了广泛的可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可以通过这个链接访问我们的在线演示。这个演示支持上传音频文件进行实时检测，并能生成文字记录和Gemma4的分析报告。为了在HuggingFace的CPU限制下保证稳定运行，我们做了大量优化，比如对Gemma4进行懒加载，并启用了轻量级的Whisper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项目的研究意义在于，它不仅是一个应用，更探索了AI安全、语音伪造检测、以人为本的AI设计、可解释AI以及多模态系统等多个前沿研究方向。我们最重要的结论是：仅仅追求低基准测试错误率是远远不够的，模型的鲁棒性和泛化能力才是决定其能否在真实世界中发挥作用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展望未来，我们还有很多工作要做。包括开发更强的鲁棒性训练方法、研究对抗性攻击的防御、提升对重放攻击的检测能力、支持多语言分析，以及实现实时通话分析和边缘设备部署。这些都是我们希望在未来继续探索的方向，以构建一个更安全、更智能的语音反欺诈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我想强调GemmaShield的社会价值。这个项目的初衷就是利用AI技术为社会公益服务，保护老年人免受日益猖獗的AI语音诈骗。随着AI技术的不断进步，我们相信这类安全系统将成为未来数字安全基础设施的重要组成部分。本次提交包含了完整的源代码、演示视频和技术报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17" Target="../notesSlides/notesSlide3.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2.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4.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svg" Type="http://schemas.openxmlformats.org/officeDocument/2006/relationships/image"/><Relationship Id="rId11" Target="../notesSlides/notesSlide12.xml" Type="http://schemas.openxmlformats.org/officeDocument/2006/relationships/notesSlide"/><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6.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37.png" Type="http://schemas.openxmlformats.org/officeDocument/2006/relationships/image"/><Relationship Id="rId14" Target="../media/image38.svg" Type="http://schemas.openxmlformats.org/officeDocument/2006/relationships/image"/><Relationship Id="rId15" Target="../media/image39.png" Type="http://schemas.openxmlformats.org/officeDocument/2006/relationships/image"/><Relationship Id="rId16" Target="../media/image40.svg" Type="http://schemas.openxmlformats.org/officeDocument/2006/relationships/image"/><Relationship Id="rId17" Target="../media/image41.png" Type="http://schemas.openxmlformats.org/officeDocument/2006/relationships/image"/><Relationship Id="rId18" Target="../media/image42.svg" Type="http://schemas.openxmlformats.org/officeDocument/2006/relationships/image"/><Relationship Id="rId19" Target="../media/image43.png" Type="http://schemas.openxmlformats.org/officeDocument/2006/relationships/image"/><Relationship Id="rId2" Target="../media/image2.jpeg" Type="http://schemas.openxmlformats.org/officeDocument/2006/relationships/image"/><Relationship Id="rId20" Target="../media/image44.svg" Type="http://schemas.openxmlformats.org/officeDocument/2006/relationships/image"/><Relationship Id="rId21" Target="../notesSlides/notesSlide13.xml" Type="http://schemas.openxmlformats.org/officeDocument/2006/relationships/notesSlid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13" Target="../media/image51.png" Type="http://schemas.openxmlformats.org/officeDocument/2006/relationships/image"/><Relationship Id="rId14" Target="../media/image52.svg" Type="http://schemas.openxmlformats.org/officeDocument/2006/relationships/image"/><Relationship Id="rId15" Target="../media/image53.png" Type="http://schemas.openxmlformats.org/officeDocument/2006/relationships/image"/><Relationship Id="rId16" Target="../notesSlides/notesSlide14.xml" Type="http://schemas.openxmlformats.org/officeDocument/2006/relationships/notesSlide"/><Relationship Id="rId2" Target="../media/image2.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56.png" Type="http://schemas.openxmlformats.org/officeDocument/2006/relationships/image"/><Relationship Id="rId16" Target="../media/image57.svg" Type="http://schemas.openxmlformats.org/officeDocument/2006/relationships/image"/><Relationship Id="rId17" Target="../notesSlides/notesSlide15.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8.png" Type="http://schemas.openxmlformats.org/officeDocument/2006/relationships/image"/><Relationship Id="rId4" Target="../media/image59.svg" Type="http://schemas.openxmlformats.org/officeDocument/2006/relationships/image"/><Relationship Id="rId5"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0.jpeg" Type="http://schemas.openxmlformats.org/officeDocument/2006/relationships/image"/><Relationship Id="rId3" Target="../notesSlides/notesSlide18.xml" Type="http://schemas.openxmlformats.org/officeDocument/2006/relationships/notesSlide"/><Relationship Id="rId4" Target="../media/image6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gradFill rotWithShape="true">
            <a:gsLst>
              <a:gs pos="0">
                <a:srgbClr val="000000">
                  <a:alpha val="60000"/>
                </a:srgbClr>
              </a:gs>
              <a:gs pos="50000">
                <a:srgbClr val="000000">
                  <a:alpha val="40000"/>
                </a:srgbClr>
              </a:gs>
              <a:gs pos="100000">
                <a:srgbClr val="000000">
                  <a:alpha val="85000"/>
                </a:srgbClr>
              </a:gs>
            </a:gsLst>
            <a:lin ang="54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667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5200">
                <a:solidFill>
                  <a:srgbClr val="FFFFFF"/>
                </a:solidFill>
                <a:latin typeface="Poppins"/>
                <a:ea typeface="Poppins"/>
                <a:cs typeface="Poppins"/>
                <a:sym typeface="Poppins"/>
              </a:rPr>
              <a:t>GemmaShield</a:t>
            </a:r>
            <a:endParaRPr lang="en-US" sz="1100"/>
          </a:p>
        </p:txBody>
      </p:sp>
      <p:sp>
        <p:nvSpPr>
          <p:cNvPr name="AutoShape 4" id="4"/>
          <p:cNvSpPr/>
          <p:nvPr/>
        </p:nvSpPr>
        <p:spPr>
          <a:xfrm rot="0" flipH="false" flipV="false">
            <a:off x="0" y="4064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2000">
                <a:solidFill>
                  <a:srgbClr val="F3F4F6"/>
                </a:solidFill>
                <a:latin typeface="Poppins"/>
                <a:ea typeface="Poppins"/>
                <a:cs typeface="Poppins"/>
                <a:sym typeface="Poppins"/>
              </a:rPr>
              <a:t>AI Voice Scam Detection System for Elderly Protection</a:t>
            </a:r>
            <a:endParaRPr lang="en-US" sz="1100"/>
          </a:p>
        </p:txBody>
      </p:sp>
      <p:sp>
        <p:nvSpPr>
          <p:cNvPr name="AutoShape 5" id="5"/>
          <p:cNvSpPr/>
          <p:nvPr/>
        </p:nvSpPr>
        <p:spPr>
          <a:xfrm rot="0" flipH="false" flipV="false">
            <a:off x="0" y="5651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D1D5DB"/>
                </a:solidFill>
                <a:latin typeface="Poppins"/>
                <a:ea typeface="Poppins"/>
                <a:cs typeface="Poppins"/>
                <a:sym typeface="Poppins"/>
              </a:rPr>
              <a:t>Developed by a First-Year CS Student</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635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1714500"/>
            <a:ext cx="2603500" cy="2349500"/>
          </a:xfrm>
          <a:prstGeom prst="roundRect">
            <a:avLst>
              <a:gd name="adj" fmla="val 0"/>
            </a:avLst>
          </a:prstGeom>
          <a:solidFill>
            <a:srgbClr val="171C24">
              <a:alpha val="90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14500"/>
            <a:ext cx="2603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905000"/>
            <a:ext cx="82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22C55E"/>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889000" y="2794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Project Background</a:t>
            </a:r>
            <a:endParaRPr lang="en-US" sz="1100"/>
          </a:p>
        </p:txBody>
      </p:sp>
      <p:sp>
        <p:nvSpPr>
          <p:cNvPr name="AutoShape 8" id="8"/>
          <p:cNvSpPr/>
          <p:nvPr/>
        </p:nvSpPr>
        <p:spPr>
          <a:xfrm rot="0" flipH="false" flipV="false">
            <a:off x="889000" y="3302000"/>
            <a:ext cx="241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剖析项目诞生的技术背景与行业痛点，阐述研发工作的核心动机与解决思路。</a:t>
            </a:r>
            <a:endParaRPr lang="en-US" sz="1100"/>
          </a:p>
        </p:txBody>
      </p:sp>
      <p:sp>
        <p:nvSpPr>
          <p:cNvPr name="AutoShape 9" id="9"/>
          <p:cNvSpPr/>
          <p:nvPr/>
        </p:nvSpPr>
        <p:spPr>
          <a:xfrm rot="0" flipH="false" flipV="false">
            <a:off x="3556000" y="1714500"/>
            <a:ext cx="2603500" cy="2349500"/>
          </a:xfrm>
          <a:prstGeom prst="roundRect">
            <a:avLst>
              <a:gd name="adj" fmla="val 0"/>
            </a:avLst>
          </a:prstGeom>
          <a:solidFill>
            <a:srgbClr val="171C24">
              <a:alpha val="90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1714500"/>
            <a:ext cx="2603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683000" y="1905000"/>
            <a:ext cx="82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22C55E"/>
                </a:solidFill>
                <a:latin typeface="Noto Sans SC"/>
                <a:ea typeface="Noto Sans SC"/>
                <a:cs typeface="Noto Sans SC"/>
                <a:sym typeface="Noto Sans SC"/>
              </a:rPr>
              <a:t>02</a:t>
            </a:r>
            <a:endParaRPr lang="en-US" sz="1100"/>
          </a:p>
        </p:txBody>
      </p:sp>
      <p:sp>
        <p:nvSpPr>
          <p:cNvPr name="AutoShape 12" id="12"/>
          <p:cNvSpPr/>
          <p:nvPr/>
        </p:nvSpPr>
        <p:spPr>
          <a:xfrm rot="0" flipH="false" flipV="false">
            <a:off x="3683000" y="2794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System Architecture</a:t>
            </a:r>
            <a:endParaRPr lang="en-US" sz="1100"/>
          </a:p>
        </p:txBody>
      </p:sp>
      <p:sp>
        <p:nvSpPr>
          <p:cNvPr name="AutoShape 13" id="13"/>
          <p:cNvSpPr/>
          <p:nvPr/>
        </p:nvSpPr>
        <p:spPr>
          <a:xfrm rot="0" flipH="false" flipV="false">
            <a:off x="3683000" y="3302000"/>
            <a:ext cx="241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深度解析GemmaShield的整体技术架构，拆解核心防御组件与底层算法的逻辑实现。</a:t>
            </a:r>
            <a:endParaRPr lang="en-US" sz="1100"/>
          </a:p>
        </p:txBody>
      </p:sp>
      <p:sp>
        <p:nvSpPr>
          <p:cNvPr name="AutoShape 14" id="14"/>
          <p:cNvSpPr/>
          <p:nvPr/>
        </p:nvSpPr>
        <p:spPr>
          <a:xfrm rot="0" flipH="false" flipV="false">
            <a:off x="6350000" y="1714500"/>
            <a:ext cx="2603500" cy="2349500"/>
          </a:xfrm>
          <a:prstGeom prst="roundRect">
            <a:avLst>
              <a:gd name="adj" fmla="val 0"/>
            </a:avLst>
          </a:prstGeom>
          <a:solidFill>
            <a:srgbClr val="171C24">
              <a:alpha val="90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1714500"/>
            <a:ext cx="2603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77000" y="1905000"/>
            <a:ext cx="82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22C55E"/>
                </a:solidFill>
                <a:latin typeface="Noto Sans SC"/>
                <a:ea typeface="Noto Sans SC"/>
                <a:cs typeface="Noto Sans SC"/>
                <a:sym typeface="Noto Sans SC"/>
              </a:rPr>
              <a:t>03</a:t>
            </a:r>
            <a:endParaRPr lang="en-US" sz="1100"/>
          </a:p>
        </p:txBody>
      </p:sp>
      <p:sp>
        <p:nvSpPr>
          <p:cNvPr name="AutoShape 17" id="17"/>
          <p:cNvSpPr/>
          <p:nvPr/>
        </p:nvSpPr>
        <p:spPr>
          <a:xfrm rot="0" flipH="false" flipV="false">
            <a:off x="6477000" y="2794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Experimental Journey</a:t>
            </a:r>
            <a:endParaRPr lang="en-US" sz="1100"/>
          </a:p>
        </p:txBody>
      </p:sp>
      <p:sp>
        <p:nvSpPr>
          <p:cNvPr name="AutoShape 18" id="18"/>
          <p:cNvSpPr/>
          <p:nvPr/>
        </p:nvSpPr>
        <p:spPr>
          <a:xfrm rot="0" flipH="false" flipV="false">
            <a:off x="6477000" y="3302000"/>
            <a:ext cx="241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回顾关键实验的完整执行过程，展示模型在多维度测试下的表现与突破性发现。</a:t>
            </a:r>
            <a:endParaRPr lang="en-US" sz="1100"/>
          </a:p>
        </p:txBody>
      </p:sp>
      <p:sp>
        <p:nvSpPr>
          <p:cNvPr name="AutoShape 19" id="19"/>
          <p:cNvSpPr/>
          <p:nvPr/>
        </p:nvSpPr>
        <p:spPr>
          <a:xfrm rot="0" flipH="false" flipV="false">
            <a:off x="9144000" y="1714500"/>
            <a:ext cx="2603500" cy="2349500"/>
          </a:xfrm>
          <a:prstGeom prst="roundRect">
            <a:avLst>
              <a:gd name="adj" fmla="val 0"/>
            </a:avLst>
          </a:prstGeom>
          <a:solidFill>
            <a:srgbClr val="171C24">
              <a:alpha val="90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144000" y="1714500"/>
            <a:ext cx="2603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271000" y="1905000"/>
            <a:ext cx="82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22C55E"/>
                </a:solidFill>
                <a:latin typeface="Noto Sans SC"/>
                <a:ea typeface="Noto Sans SC"/>
                <a:cs typeface="Noto Sans SC"/>
                <a:sym typeface="Noto Sans SC"/>
              </a:rPr>
              <a:t>04</a:t>
            </a:r>
            <a:endParaRPr lang="en-US" sz="1100"/>
          </a:p>
        </p:txBody>
      </p:sp>
      <p:sp>
        <p:nvSpPr>
          <p:cNvPr name="AutoShape 22" id="22"/>
          <p:cNvSpPr/>
          <p:nvPr/>
        </p:nvSpPr>
        <p:spPr>
          <a:xfrm rot="0" flipH="false" flipV="false">
            <a:off x="9271000" y="2794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Application &amp; Impact</a:t>
            </a:r>
            <a:endParaRPr lang="en-US" sz="1100"/>
          </a:p>
        </p:txBody>
      </p:sp>
      <p:sp>
        <p:nvSpPr>
          <p:cNvPr name="AutoShape 23" id="23"/>
          <p:cNvSpPr/>
          <p:nvPr/>
        </p:nvSpPr>
        <p:spPr>
          <a:xfrm rot="0" flipH="false" flipV="false">
            <a:off x="9271000" y="3302000"/>
            <a:ext cx="241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探讨技术落地的实际应用场景，评估其在AI安全领域产生的社会价值与未来潜力。</a:t>
            </a:r>
            <a:endParaRPr lang="en-US" sz="1100"/>
          </a:p>
        </p:txBody>
      </p:sp>
      <p:sp>
        <p:nvSpPr>
          <p:cNvPr name="AutoShape 24" id="24"/>
          <p:cNvSpPr/>
          <p:nvPr/>
        </p:nvSpPr>
        <p:spPr>
          <a:xfrm rot="0" flipH="false" flipV="false">
            <a:off x="762000" y="4381500"/>
            <a:ext cx="10985500" cy="1778000"/>
          </a:xfrm>
          <a:prstGeom prst="roundRect">
            <a:avLst>
              <a:gd name="adj" fmla="val 0"/>
            </a:avLst>
          </a:prstGeom>
          <a:solidFill>
            <a:srgbClr val="0A0F14">
              <a:alpha val="75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79500" y="4572000"/>
            <a:ext cx="10350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F3F4F6"/>
                </a:solidFill>
                <a:latin typeface="Noto Sans SC"/>
                <a:ea typeface="Noto Sans SC"/>
                <a:cs typeface="Noto Sans SC"/>
                <a:sym typeface="Noto Sans SC"/>
              </a:rPr>
              <a:t>本次报告将围绕AI安全防御的核心命题展开。我们将从项目的初衷出发，通过技术架构的透视、实验数据的实证，以及应用前景的展望，为您呈现GemmaShield如何构建可靠的模型防线，以及这项技术在应对未来安全挑战中所蕴含的独特价值与深远意义。</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Project Background: The Rising Threat of AI Voice Scams</a:t>
            </a:r>
            <a:endParaRPr lang="en-US" sz="1100"/>
          </a:p>
        </p:txBody>
      </p:sp>
      <p:sp>
        <p:nvSpPr>
          <p:cNvPr name="AutoShape 4" id="4"/>
          <p:cNvSpPr/>
          <p:nvPr/>
        </p:nvSpPr>
        <p:spPr>
          <a:xfrm rot="0" flipH="false" flipV="false">
            <a:off x="762000" y="1651000"/>
            <a:ext cx="5270500" cy="4508500"/>
          </a:xfrm>
          <a:prstGeom prst="roundRect">
            <a:avLst>
              <a:gd name="adj" fmla="val 0"/>
            </a:avLst>
          </a:prstGeom>
          <a:solidFill>
            <a:srgbClr val="111827">
              <a:alpha val="88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841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C55E"/>
                </a:solidFill>
                <a:latin typeface="Noto Sans SC"/>
                <a:ea typeface="Noto Sans SC"/>
                <a:cs typeface="Noto Sans SC"/>
                <a:sym typeface="Noto Sans SC"/>
              </a:rPr>
              <a:t>The Challenge</a:t>
            </a:r>
            <a:endParaRPr lang="en-US" sz="1100"/>
          </a:p>
        </p:txBody>
      </p:sp>
      <p:sp>
        <p:nvSpPr>
          <p:cNvPr name="AutoShape 6" id="6"/>
          <p:cNvSpPr/>
          <p:nvPr/>
        </p:nvSpPr>
        <p:spPr>
          <a:xfrm rot="0" flipH="false" flipV="false">
            <a:off x="952500" y="2540000"/>
            <a:ext cx="1600200" cy="1841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41400" y="2641600"/>
            <a:ext cx="279400" cy="279400"/>
          </a:xfrm>
          <a:prstGeom prst="rect">
            <a:avLst/>
          </a:prstGeom>
        </p:spPr>
      </p:pic>
      <p:sp>
        <p:nvSpPr>
          <p:cNvPr name="AutoShape 8" id="8"/>
          <p:cNvSpPr/>
          <p:nvPr/>
        </p:nvSpPr>
        <p:spPr>
          <a:xfrm rot="0" flipH="false" flipV="false">
            <a:off x="1041400" y="3022600"/>
            <a:ext cx="14732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AI Voice Cloning</a:t>
            </a:r>
            <a:endParaRPr lang="en-US" sz="1100"/>
          </a:p>
        </p:txBody>
      </p:sp>
      <p:sp>
        <p:nvSpPr>
          <p:cNvPr name="AutoShape 9" id="9"/>
          <p:cNvSpPr/>
          <p:nvPr/>
        </p:nvSpPr>
        <p:spPr>
          <a:xfrm rot="0" flipH="false" flipV="false">
            <a:off x="1041400" y="3492500"/>
            <a:ext cx="14732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Synthetic voices are now nearly indistinguishable from real humans, enabling hyper-realistic deception.</a:t>
            </a:r>
            <a:endParaRPr lang="en-US" sz="1100"/>
          </a:p>
        </p:txBody>
      </p:sp>
      <p:sp>
        <p:nvSpPr>
          <p:cNvPr name="AutoShape 10" id="10"/>
          <p:cNvSpPr/>
          <p:nvPr/>
        </p:nvSpPr>
        <p:spPr>
          <a:xfrm rot="0" flipH="false" flipV="false">
            <a:off x="2667000" y="2540000"/>
            <a:ext cx="1600200" cy="1841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2755900" y="2641600"/>
            <a:ext cx="279400" cy="279400"/>
          </a:xfrm>
          <a:prstGeom prst="rect">
            <a:avLst/>
          </a:prstGeom>
        </p:spPr>
      </p:pic>
      <p:sp>
        <p:nvSpPr>
          <p:cNvPr name="AutoShape 12" id="12"/>
          <p:cNvSpPr/>
          <p:nvPr/>
        </p:nvSpPr>
        <p:spPr>
          <a:xfrm rot="0" flipH="false" flipV="false">
            <a:off x="2755900" y="3022600"/>
            <a:ext cx="14732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At-Risk Elders</a:t>
            </a:r>
            <a:endParaRPr lang="en-US" sz="1100"/>
          </a:p>
        </p:txBody>
      </p:sp>
      <p:sp>
        <p:nvSpPr>
          <p:cNvPr name="AutoShape 13" id="13"/>
          <p:cNvSpPr/>
          <p:nvPr/>
        </p:nvSpPr>
        <p:spPr>
          <a:xfrm rot="0" flipH="false" flipV="false">
            <a:off x="2755900" y="3492500"/>
            <a:ext cx="14732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Older adults face significant risk due to reduced digital literacy and social isolation.</a:t>
            </a:r>
            <a:endParaRPr lang="en-US" sz="1100"/>
          </a:p>
        </p:txBody>
      </p:sp>
      <p:sp>
        <p:nvSpPr>
          <p:cNvPr name="AutoShape 14" id="14"/>
          <p:cNvSpPr/>
          <p:nvPr/>
        </p:nvSpPr>
        <p:spPr>
          <a:xfrm rot="0" flipH="false" flipV="false">
            <a:off x="4343400" y="2540000"/>
            <a:ext cx="1600200" cy="1841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432300" y="2641600"/>
            <a:ext cx="279400" cy="279400"/>
          </a:xfrm>
          <a:prstGeom prst="rect">
            <a:avLst/>
          </a:prstGeom>
        </p:spPr>
      </p:pic>
      <p:sp>
        <p:nvSpPr>
          <p:cNvPr name="AutoShape 16" id="16"/>
          <p:cNvSpPr/>
          <p:nvPr/>
        </p:nvSpPr>
        <p:spPr>
          <a:xfrm rot="0" flipH="false" flipV="false">
            <a:off x="4432300" y="3022600"/>
            <a:ext cx="14732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Lab vs. Reality</a:t>
            </a:r>
            <a:endParaRPr lang="en-US" sz="1100"/>
          </a:p>
        </p:txBody>
      </p:sp>
      <p:sp>
        <p:nvSpPr>
          <p:cNvPr name="AutoShape 17" id="17"/>
          <p:cNvSpPr/>
          <p:nvPr/>
        </p:nvSpPr>
        <p:spPr>
          <a:xfrm rot="0" flipH="false" flipV="false">
            <a:off x="4432300" y="3492500"/>
            <a:ext cx="14732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Benchmark success fails to translate to noisy, unconstrained real-world environments.</a:t>
            </a:r>
            <a:endParaRPr lang="en-US" sz="1100"/>
          </a:p>
        </p:txBody>
      </p:sp>
      <p:sp>
        <p:nvSpPr>
          <p:cNvPr name="AutoShape 18" id="18"/>
          <p:cNvSpPr/>
          <p:nvPr/>
        </p:nvSpPr>
        <p:spPr>
          <a:xfrm rot="0" flipH="false" flipV="false">
            <a:off x="952500" y="4508500"/>
            <a:ext cx="4991100" cy="1524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79500" y="4635500"/>
            <a:ext cx="4737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5E7EB"/>
                </a:solidFill>
                <a:latin typeface="Noto Sans SC"/>
                <a:ea typeface="Noto Sans SC"/>
                <a:cs typeface="Noto Sans SC"/>
                <a:sym typeface="Noto Sans SC"/>
              </a:rPr>
              <a:t>Existing anti-fraud technologies are often calibrated for idealized data. This creates a critical vulnerability: scammers exploit the gap between controlled lab conditions and the messy, unpredictable nature of real human communication.</a:t>
            </a:r>
            <a:endParaRPr lang="en-US" sz="1100"/>
          </a:p>
        </p:txBody>
      </p:sp>
      <p:cxnSp>
        <p:nvCxnSpPr>
          <p:cNvPr name="Connector 20" id="20"/>
          <p:cNvCxnSpPr/>
          <p:nvPr/>
        </p:nvCxnSpPr>
        <p:spPr>
          <a:xfrm rot="5390316" flipH="false" flipV="false">
            <a:off x="3905250" y="3898909"/>
            <a:ext cx="4508500" cy="12700"/>
          </a:xfrm>
          <a:prstGeom prst="straightConnector1">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sp>
        <p:nvSpPr>
          <p:cNvPr name="AutoShape 21" id="21"/>
          <p:cNvSpPr/>
          <p:nvPr/>
        </p:nvSpPr>
        <p:spPr>
          <a:xfrm rot="0" flipH="false" flipV="false">
            <a:off x="6286500" y="1651000"/>
            <a:ext cx="5270500" cy="4508500"/>
          </a:xfrm>
          <a:prstGeom prst="roundRect">
            <a:avLst>
              <a:gd name="adj" fmla="val 0"/>
            </a:avLst>
          </a:prstGeom>
          <a:solidFill>
            <a:srgbClr val="111827">
              <a:alpha val="88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77000" y="1841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C55E"/>
                </a:solidFill>
                <a:latin typeface="Noto Sans SC"/>
                <a:ea typeface="Noto Sans SC"/>
                <a:cs typeface="Noto Sans SC"/>
                <a:sym typeface="Noto Sans SC"/>
              </a:rPr>
              <a:t>GemmaShield's Mission</a:t>
            </a:r>
            <a:endParaRPr lang="en-US" sz="1100"/>
          </a:p>
        </p:txBody>
      </p:sp>
      <p:sp>
        <p:nvSpPr>
          <p:cNvPr name="AutoShape 23" id="23"/>
          <p:cNvSpPr/>
          <p:nvPr/>
        </p:nvSpPr>
        <p:spPr>
          <a:xfrm rot="0" flipH="false" flipV="false">
            <a:off x="6477000" y="2540000"/>
            <a:ext cx="2476500" cy="1714500"/>
          </a:xfrm>
          <a:prstGeom prst="roundRect">
            <a:avLst>
              <a:gd name="adj" fmla="val 0"/>
            </a:avLst>
          </a:prstGeom>
          <a:solidFill>
            <a:srgbClr val="22C55E">
              <a:alpha val="1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78600" y="2641600"/>
            <a:ext cx="279400" cy="279400"/>
          </a:xfrm>
          <a:prstGeom prst="rect">
            <a:avLst/>
          </a:prstGeom>
        </p:spPr>
      </p:pic>
      <p:sp>
        <p:nvSpPr>
          <p:cNvPr name="AutoShape 25" id="25"/>
          <p:cNvSpPr/>
          <p:nvPr/>
        </p:nvSpPr>
        <p:spPr>
          <a:xfrm rot="0" flipH="false" flipV="false">
            <a:off x="6959600" y="2641600"/>
            <a:ext cx="1905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Real-World Detection</a:t>
            </a:r>
            <a:endParaRPr lang="en-US" sz="1100"/>
          </a:p>
        </p:txBody>
      </p:sp>
      <p:sp>
        <p:nvSpPr>
          <p:cNvPr name="AutoShape 26" id="26"/>
          <p:cNvSpPr/>
          <p:nvPr/>
        </p:nvSpPr>
        <p:spPr>
          <a:xfrm rot="0" flipH="false" flipV="false">
            <a:off x="6578600" y="3111500"/>
            <a:ext cx="2286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Develop adaptive models that maintain high accuracy in everyday noisy settings, such as background TV, traffic, or distant phone calls.</a:t>
            </a:r>
            <a:endParaRPr lang="en-US" sz="1100"/>
          </a:p>
        </p:txBody>
      </p:sp>
      <p:sp>
        <p:nvSpPr>
          <p:cNvPr name="AutoShape 27" id="27"/>
          <p:cNvSpPr/>
          <p:nvPr/>
        </p:nvSpPr>
        <p:spPr>
          <a:xfrm rot="0" flipH="false" flipV="false">
            <a:off x="9042400" y="2540000"/>
            <a:ext cx="2476500" cy="1714500"/>
          </a:xfrm>
          <a:prstGeom prst="roundRect">
            <a:avLst>
              <a:gd name="adj" fmla="val 0"/>
            </a:avLst>
          </a:prstGeom>
          <a:solidFill>
            <a:srgbClr val="22C55E">
              <a:alpha val="1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144000" y="2641600"/>
            <a:ext cx="279400" cy="279400"/>
          </a:xfrm>
          <a:prstGeom prst="rect">
            <a:avLst/>
          </a:prstGeom>
        </p:spPr>
      </p:pic>
      <p:sp>
        <p:nvSpPr>
          <p:cNvPr name="AutoShape 29" id="29"/>
          <p:cNvSpPr/>
          <p:nvPr/>
        </p:nvSpPr>
        <p:spPr>
          <a:xfrm rot="0" flipH="false" flipV="false">
            <a:off x="9525000" y="2641600"/>
            <a:ext cx="1905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Robust Defense</a:t>
            </a:r>
            <a:endParaRPr lang="en-US" sz="1100"/>
          </a:p>
        </p:txBody>
      </p:sp>
      <p:sp>
        <p:nvSpPr>
          <p:cNvPr name="AutoShape 30" id="30"/>
          <p:cNvSpPr/>
          <p:nvPr/>
        </p:nvSpPr>
        <p:spPr>
          <a:xfrm rot="0" flipH="false" flipV="false">
            <a:off x="9144000" y="3111500"/>
            <a:ext cx="2286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Build systems resilient to adversarial voice manipulations and evolving deepfake techniques that bypass traditional filters.</a:t>
            </a:r>
            <a:endParaRPr lang="en-US" sz="1100"/>
          </a:p>
        </p:txBody>
      </p:sp>
      <p:sp>
        <p:nvSpPr>
          <p:cNvPr name="AutoShape 31" id="31"/>
          <p:cNvSpPr/>
          <p:nvPr/>
        </p:nvSpPr>
        <p:spPr>
          <a:xfrm rot="0" flipH="false" flipV="false">
            <a:off x="6477000" y="4381500"/>
            <a:ext cx="2476500" cy="1714500"/>
          </a:xfrm>
          <a:prstGeom prst="roundRect">
            <a:avLst>
              <a:gd name="adj" fmla="val 0"/>
            </a:avLst>
          </a:prstGeom>
          <a:solidFill>
            <a:srgbClr val="22C55E">
              <a:alpha val="1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578600" y="4483100"/>
            <a:ext cx="279400" cy="279400"/>
          </a:xfrm>
          <a:prstGeom prst="rect">
            <a:avLst/>
          </a:prstGeom>
        </p:spPr>
      </p:pic>
      <p:sp>
        <p:nvSpPr>
          <p:cNvPr name="AutoShape 33" id="33"/>
          <p:cNvSpPr/>
          <p:nvPr/>
        </p:nvSpPr>
        <p:spPr>
          <a:xfrm rot="0" flipH="false" flipV="false">
            <a:off x="6959600" y="4483100"/>
            <a:ext cx="1905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Explainable AI</a:t>
            </a:r>
            <a:endParaRPr lang="en-US" sz="1100"/>
          </a:p>
        </p:txBody>
      </p:sp>
      <p:sp>
        <p:nvSpPr>
          <p:cNvPr name="AutoShape 34" id="34"/>
          <p:cNvSpPr/>
          <p:nvPr/>
        </p:nvSpPr>
        <p:spPr>
          <a:xfrm rot="0" flipH="false" flipV="false">
            <a:off x="6578600" y="4953000"/>
            <a:ext cx="2286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Demystify AI decisions for users and caregivers by providing clear, actionable insights into why a call is flagged as suspicious.</a:t>
            </a:r>
            <a:endParaRPr lang="en-US" sz="1100"/>
          </a:p>
        </p:txBody>
      </p:sp>
      <p:sp>
        <p:nvSpPr>
          <p:cNvPr name="AutoShape 35" id="35"/>
          <p:cNvSpPr/>
          <p:nvPr/>
        </p:nvSpPr>
        <p:spPr>
          <a:xfrm rot="0" flipH="false" flipV="false">
            <a:off x="9042400" y="4381500"/>
            <a:ext cx="2476500" cy="1714500"/>
          </a:xfrm>
          <a:prstGeom prst="roundRect">
            <a:avLst>
              <a:gd name="adj" fmla="val 0"/>
            </a:avLst>
          </a:prstGeom>
          <a:solidFill>
            <a:srgbClr val="22C55E">
              <a:alpha val="1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144000" y="4483100"/>
            <a:ext cx="279400" cy="279400"/>
          </a:xfrm>
          <a:prstGeom prst="rect">
            <a:avLst/>
          </a:prstGeom>
        </p:spPr>
      </p:pic>
      <p:sp>
        <p:nvSpPr>
          <p:cNvPr name="AutoShape 37" id="37"/>
          <p:cNvSpPr/>
          <p:nvPr/>
        </p:nvSpPr>
        <p:spPr>
          <a:xfrm rot="0" flipH="false" flipV="false">
            <a:off x="9525000" y="4483100"/>
            <a:ext cx="1905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Elder-Centric UX</a:t>
            </a:r>
            <a:endParaRPr lang="en-US" sz="1100"/>
          </a:p>
        </p:txBody>
      </p:sp>
      <p:sp>
        <p:nvSpPr>
          <p:cNvPr name="AutoShape 38" id="38"/>
          <p:cNvSpPr/>
          <p:nvPr/>
        </p:nvSpPr>
        <p:spPr>
          <a:xfrm rot="0" flipH="false" flipV="false">
            <a:off x="9144000" y="4953000"/>
            <a:ext cx="2286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Design intuitive, low-barrier interactions that empower elderly users to easily verify call authenticity and seek help.</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Project Goals: What GemmaShield Aims to Achieve</a:t>
            </a:r>
            <a:endParaRPr lang="en-US" sz="1100"/>
          </a:p>
        </p:txBody>
      </p:sp>
      <p:sp>
        <p:nvSpPr>
          <p:cNvPr name="AutoShape 4" id="4"/>
          <p:cNvSpPr/>
          <p:nvPr/>
        </p:nvSpPr>
        <p:spPr>
          <a:xfrm rot="0" flipH="false" flipV="false">
            <a:off x="762000" y="1651000"/>
            <a:ext cx="3492500" cy="2222500"/>
          </a:xfrm>
          <a:prstGeom prst="roundRect">
            <a:avLst>
              <a:gd name="adj" fmla="val 0"/>
            </a:avLst>
          </a:prstGeom>
          <a:solidFill>
            <a:srgbClr val="1C232D">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841500"/>
            <a:ext cx="317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Detect AI-generated Fake Voices</a:t>
            </a:r>
            <a:endParaRPr lang="en-US" sz="1100"/>
          </a:p>
        </p:txBody>
      </p:sp>
      <p:sp>
        <p:nvSpPr>
          <p:cNvPr name="AutoShape 7" id="7"/>
          <p:cNvSpPr/>
          <p:nvPr/>
        </p:nvSpPr>
        <p:spPr>
          <a:xfrm rot="0" flipH="false" flipV="false">
            <a:off x="952500" y="2540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Identify synthetic voices generated by advanced AI models. This foundational capability blocks the primary vector of voice impersonation scams before they reach the end-user.</a:t>
            </a:r>
            <a:endParaRPr lang="en-US" sz="1100"/>
          </a:p>
        </p:txBody>
      </p:sp>
      <p:sp>
        <p:nvSpPr>
          <p:cNvPr name="AutoShape 8" id="8"/>
          <p:cNvSpPr/>
          <p:nvPr/>
        </p:nvSpPr>
        <p:spPr>
          <a:xfrm rot="0" flipH="false" flipV="false">
            <a:off x="4419600" y="1651000"/>
            <a:ext cx="3492500" cy="2222500"/>
          </a:xfrm>
          <a:prstGeom prst="roundRect">
            <a:avLst>
              <a:gd name="adj" fmla="val 0"/>
            </a:avLst>
          </a:prstGeom>
          <a:solidFill>
            <a:srgbClr val="1C232D">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196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10100" y="1841500"/>
            <a:ext cx="317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LLM Reasoning for Scam Risk</a:t>
            </a:r>
            <a:endParaRPr lang="en-US" sz="1100"/>
          </a:p>
        </p:txBody>
      </p:sp>
      <p:sp>
        <p:nvSpPr>
          <p:cNvPr name="AutoShape 11" id="11"/>
          <p:cNvSpPr/>
          <p:nvPr/>
        </p:nvSpPr>
        <p:spPr>
          <a:xfrm rot="0" flipH="false" flipV="false">
            <a:off x="4610100" y="2540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Leverage large language models to analyze conversational context and intent. This dynamic assessment goes beyond keywords to evaluate the probabilistic risk of a fraudulent attempt.</a:t>
            </a:r>
            <a:endParaRPr lang="en-US" sz="1100"/>
          </a:p>
        </p:txBody>
      </p:sp>
      <p:sp>
        <p:nvSpPr>
          <p:cNvPr name="AutoShape 12" id="12"/>
          <p:cNvSpPr/>
          <p:nvPr/>
        </p:nvSpPr>
        <p:spPr>
          <a:xfrm rot="0" flipH="false" flipV="false">
            <a:off x="8077200" y="1651000"/>
            <a:ext cx="3492500" cy="2222500"/>
          </a:xfrm>
          <a:prstGeom prst="roundRect">
            <a:avLst>
              <a:gd name="adj" fmla="val 0"/>
            </a:avLst>
          </a:prstGeom>
          <a:solidFill>
            <a:srgbClr val="1C232D">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0772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267700" y="1841500"/>
            <a:ext cx="317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Elderly-Friendly Explanations</a:t>
            </a:r>
            <a:endParaRPr lang="en-US" sz="1100"/>
          </a:p>
        </p:txBody>
      </p:sp>
      <p:sp>
        <p:nvSpPr>
          <p:cNvPr name="AutoShape 15" id="15"/>
          <p:cNvSpPr/>
          <p:nvPr/>
        </p:nvSpPr>
        <p:spPr>
          <a:xfrm rot="0" flipH="false" flipV="false">
            <a:off x="8267700" y="2540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Generate clear, jargon-free risk explanations tailored for senior users. Empower vulnerable populations to understand "why" a call is suspicious, enabling informed decision-making.</a:t>
            </a:r>
            <a:endParaRPr lang="en-US" sz="1100"/>
          </a:p>
        </p:txBody>
      </p:sp>
      <p:sp>
        <p:nvSpPr>
          <p:cNvPr name="AutoShape 16" id="16"/>
          <p:cNvSpPr/>
          <p:nvPr/>
        </p:nvSpPr>
        <p:spPr>
          <a:xfrm rot="0" flipH="false" flipV="false">
            <a:off x="762000" y="4064000"/>
            <a:ext cx="5207000" cy="2222500"/>
          </a:xfrm>
          <a:prstGeom prst="roundRect">
            <a:avLst>
              <a:gd name="adj" fmla="val 0"/>
            </a:avLst>
          </a:prstGeom>
          <a:solidFill>
            <a:srgbClr val="1C232D">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0640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52500" y="42545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Benchmarking Real-World Robustness</a:t>
            </a:r>
            <a:endParaRPr lang="en-US" sz="1100"/>
          </a:p>
        </p:txBody>
      </p:sp>
      <p:sp>
        <p:nvSpPr>
          <p:cNvPr name="AutoShape 19" id="19"/>
          <p:cNvSpPr/>
          <p:nvPr/>
        </p:nvSpPr>
        <p:spPr>
          <a:xfrm rot="0" flipH="false" flipV="false">
            <a:off x="952500" y="48895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Investigate the gap between controlled lab performance and the challenges of real-world deployment, such as varying audio quality, background noise, and dialect diversity. This research ensures the system remains effective outside idealized testing environments.</a:t>
            </a:r>
            <a:endParaRPr lang="en-US" sz="1100"/>
          </a:p>
        </p:txBody>
      </p:sp>
      <p:sp>
        <p:nvSpPr>
          <p:cNvPr name="AutoShape 20" id="20"/>
          <p:cNvSpPr/>
          <p:nvPr/>
        </p:nvSpPr>
        <p:spPr>
          <a:xfrm rot="0" flipH="false" flipV="false">
            <a:off x="6223000" y="4064000"/>
            <a:ext cx="5207000" cy="2222500"/>
          </a:xfrm>
          <a:prstGeom prst="roundRect">
            <a:avLst>
              <a:gd name="adj" fmla="val 0"/>
            </a:avLst>
          </a:prstGeom>
          <a:solidFill>
            <a:srgbClr val="1C232D">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40640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13500" y="42545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Multimodal AI Security Fusion</a:t>
            </a:r>
            <a:endParaRPr lang="en-US" sz="1100"/>
          </a:p>
        </p:txBody>
      </p:sp>
      <p:sp>
        <p:nvSpPr>
          <p:cNvPr name="AutoShape 23" id="23"/>
          <p:cNvSpPr/>
          <p:nvPr/>
        </p:nvSpPr>
        <p:spPr>
          <a:xfrm rot="0" flipH="false" flipV="false">
            <a:off x="6413500" y="48895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Integrate voice biometrics with text analysis, caller metadata, and behavioral patterns for a layered defense system. By combining multiple data modalities, GemmaShield creates a more resilient barrier against evolving AI-powered fraud tactics.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System Architecture: A Multimodal AI Pipeline</a:t>
            </a:r>
            <a:endParaRPr lang="en-US" sz="1100"/>
          </a:p>
        </p:txBody>
      </p:sp>
      <p:sp>
        <p:nvSpPr>
          <p:cNvPr name="AutoShape 4" id="4"/>
          <p:cNvSpPr/>
          <p:nvPr/>
        </p:nvSpPr>
        <p:spPr>
          <a:xfrm rot="0" flipH="false" flipV="false">
            <a:off x="762000" y="1651000"/>
            <a:ext cx="4699000" cy="4318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13621" b="13621"/>
          <a:stretch>
            <a:fillRect/>
          </a:stretch>
        </p:blipFill>
        <p:spPr>
          <a:xfrm rot="0" flipH="false" flipV="false">
            <a:off x="952500" y="1841500"/>
            <a:ext cx="4318000" cy="3937000"/>
          </a:xfrm>
          <a:prstGeom prst="rect">
            <a:avLst/>
          </a:prstGeom>
          <a:noFill/>
          <a:ln w="25400" cmpd="sng" cap="flat">
            <a:noFill/>
            <a:prstDash val="solid"/>
            <a:round/>
          </a:ln>
        </p:spPr>
      </p:pic>
      <p:cxnSp>
        <p:nvCxnSpPr>
          <p:cNvPr name="Connector 6" id="6"/>
          <p:cNvCxnSpPr/>
          <p:nvPr/>
        </p:nvCxnSpPr>
        <p:spPr>
          <a:xfrm rot="5389889" flipH="false" flipV="false">
            <a:off x="3619500" y="3867159"/>
            <a:ext cx="4318000" cy="12700"/>
          </a:xfrm>
          <a:prstGeom prst="straightConnector1">
            <a:avLst/>
          </a:prstGeom>
          <a:solidFill>
            <a:srgbClr val="DEE0E3">
              <a:alpha val="100000"/>
            </a:srgbClr>
          </a:solidFill>
          <a:ln w="12700" cmpd="sng" cap="flat">
            <a:solidFill>
              <a:srgbClr val="22C55E">
                <a:alpha val="40000"/>
              </a:srgbClr>
            </a:solidFill>
            <a:prstDash val="dash"/>
            <a:round/>
            <a:headEnd type="none" w="med" len="med"/>
            <a:tailEnd type="none" w="med" len="med"/>
          </a:ln>
        </p:spPr>
      </p:cxnSp>
      <p:sp>
        <p:nvSpPr>
          <p:cNvPr name="AutoShape 7" id="7"/>
          <p:cNvSpPr/>
          <p:nvPr/>
        </p:nvSpPr>
        <p:spPr>
          <a:xfrm rot="0" flipH="false" flipV="false">
            <a:off x="6032500" y="1651000"/>
            <a:ext cx="5715000" cy="1460500"/>
          </a:xfrm>
          <a:prstGeom prst="roundRect">
            <a:avLst>
              <a:gd name="adj" fmla="val 0"/>
            </a:avLst>
          </a:prstGeom>
          <a:solidFill>
            <a:srgbClr val="111827">
              <a:alpha val="8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032500" y="16510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778000"/>
            <a:ext cx="558800" cy="558800"/>
          </a:xfrm>
          <a:prstGeom prst="roundRect">
            <a:avLst>
              <a:gd name="adj" fmla="val 0"/>
            </a:avLst>
          </a:prstGeom>
          <a:solidFill>
            <a:srgbClr val="22C55E">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73800" y="1828800"/>
            <a:ext cx="457200" cy="457200"/>
          </a:xfrm>
          <a:prstGeom prst="rect">
            <a:avLst/>
          </a:prstGeom>
        </p:spPr>
      </p:pic>
      <p:sp>
        <p:nvSpPr>
          <p:cNvPr name="AutoShape 11" id="11"/>
          <p:cNvSpPr/>
          <p:nvPr/>
        </p:nvSpPr>
        <p:spPr>
          <a:xfrm rot="0" flipH="false" flipV="false">
            <a:off x="6985000" y="17780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Audio Sensing &amp; Preprocessing</a:t>
            </a:r>
            <a:endParaRPr lang="en-US" sz="1100"/>
          </a:p>
        </p:txBody>
      </p:sp>
      <p:sp>
        <p:nvSpPr>
          <p:cNvPr name="AutoShape 12" id="12"/>
          <p:cNvSpPr/>
          <p:nvPr/>
        </p:nvSpPr>
        <p:spPr>
          <a:xfrm rot="0" flipH="false" flipV="false">
            <a:off x="6985000" y="21971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Dual-path input handling: The raw audio stream is simultaneously fed into a CNN model for real-time voice spoof detection and a Faster-Whisper ASR model for high-accuracy speech-to-text conversion, capturing both acoustic and linguistic features.</a:t>
            </a:r>
            <a:endParaRPr lang="en-US" sz="1100"/>
          </a:p>
        </p:txBody>
      </p:sp>
      <p:sp>
        <p:nvSpPr>
          <p:cNvPr name="AutoShape 13" id="13"/>
          <p:cNvSpPr/>
          <p:nvPr/>
        </p:nvSpPr>
        <p:spPr>
          <a:xfrm rot="0" flipH="false" flipV="false">
            <a:off x="6032500" y="3200400"/>
            <a:ext cx="5715000" cy="1460500"/>
          </a:xfrm>
          <a:prstGeom prst="roundRect">
            <a:avLst>
              <a:gd name="adj" fmla="val 0"/>
            </a:avLst>
          </a:prstGeom>
          <a:solidFill>
            <a:srgbClr val="111827">
              <a:alpha val="8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032500" y="32004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3327400"/>
            <a:ext cx="558800" cy="558800"/>
          </a:xfrm>
          <a:prstGeom prst="roundRect">
            <a:avLst>
              <a:gd name="adj" fmla="val 0"/>
            </a:avLst>
          </a:prstGeom>
          <a:solidFill>
            <a:srgbClr val="22C55E">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273800" y="3378200"/>
            <a:ext cx="457200" cy="457200"/>
          </a:xfrm>
          <a:prstGeom prst="rect">
            <a:avLst/>
          </a:prstGeom>
        </p:spPr>
      </p:pic>
      <p:sp>
        <p:nvSpPr>
          <p:cNvPr name="AutoShape 17" id="17"/>
          <p:cNvSpPr/>
          <p:nvPr/>
        </p:nvSpPr>
        <p:spPr>
          <a:xfrm rot="0" flipH="false" flipV="false">
            <a:off x="6985000" y="33274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Multimodal Gemma4 Inference</a:t>
            </a:r>
            <a:endParaRPr lang="en-US" sz="1100"/>
          </a:p>
        </p:txBody>
      </p:sp>
      <p:sp>
        <p:nvSpPr>
          <p:cNvPr name="AutoShape 18" id="18"/>
          <p:cNvSpPr/>
          <p:nvPr/>
        </p:nvSpPr>
        <p:spPr>
          <a:xfrm rot="0" flipH="false" flipV="false">
            <a:off x="6985000" y="37465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Context-aware fusion engine: Combines the spoof probability score with the transcribed text context. The Gemma4 LLM performs deep semantic reasoning to identify scam patterns, emotional manipulation tactics, and logical inconsistencies within the dialogue flow.</a:t>
            </a:r>
            <a:endParaRPr lang="en-US" sz="1100"/>
          </a:p>
        </p:txBody>
      </p:sp>
      <p:sp>
        <p:nvSpPr>
          <p:cNvPr name="AutoShape 19" id="19"/>
          <p:cNvSpPr/>
          <p:nvPr/>
        </p:nvSpPr>
        <p:spPr>
          <a:xfrm rot="0" flipH="false" flipV="false">
            <a:off x="6032500" y="4762500"/>
            <a:ext cx="5715000" cy="1460500"/>
          </a:xfrm>
          <a:prstGeom prst="roundRect">
            <a:avLst>
              <a:gd name="adj" fmla="val 0"/>
            </a:avLst>
          </a:prstGeom>
          <a:solidFill>
            <a:srgbClr val="111827">
              <a:alpha val="8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032500" y="47625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4889500"/>
            <a:ext cx="558800" cy="558800"/>
          </a:xfrm>
          <a:prstGeom prst="roundRect">
            <a:avLst>
              <a:gd name="adj" fmla="val 0"/>
            </a:avLst>
          </a:prstGeom>
          <a:solidFill>
            <a:srgbClr val="22C55E">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273800" y="4940300"/>
            <a:ext cx="457200" cy="457200"/>
          </a:xfrm>
          <a:prstGeom prst="rect">
            <a:avLst/>
          </a:prstGeom>
        </p:spPr>
      </p:pic>
      <p:sp>
        <p:nvSpPr>
          <p:cNvPr name="AutoShape 23" id="23"/>
          <p:cNvSpPr/>
          <p:nvPr/>
        </p:nvSpPr>
        <p:spPr>
          <a:xfrm rot="0" flipH="false" flipV="false">
            <a:off x="6985000" y="48895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Elderly-Centric Safety Output</a:t>
            </a:r>
            <a:endParaRPr lang="en-US" sz="1100"/>
          </a:p>
        </p:txBody>
      </p:sp>
      <p:sp>
        <p:nvSpPr>
          <p:cNvPr name="AutoShape 24" id="24"/>
          <p:cNvSpPr/>
          <p:nvPr/>
        </p:nvSpPr>
        <p:spPr>
          <a:xfrm rot="0" flipH="false" flipV="false">
            <a:off x="6985000" y="53086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Actionable insights generation: Translates complex AI analysis into a simplified, human-readable safety report. Highlights red flags, summarizes the call's intent, and provides clear, actionable warnings tailored for the elderly population.</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Core Technologies</a:t>
            </a:r>
            <a:endParaRPr lang="en-US" sz="1100"/>
          </a:p>
        </p:txBody>
      </p:sp>
      <p:sp>
        <p:nvSpPr>
          <p:cNvPr name="AutoShape 4" id="4"/>
          <p:cNvSpPr/>
          <p:nvPr/>
        </p:nvSpPr>
        <p:spPr>
          <a:xfrm rot="0" flipH="false" flipV="false">
            <a:off x="762000" y="1651000"/>
            <a:ext cx="3492500" cy="2159000"/>
          </a:xfrm>
          <a:prstGeom prst="roundRect">
            <a:avLst>
              <a:gd name="adj" fmla="val 0"/>
            </a:avLst>
          </a:prstGeom>
          <a:solidFill>
            <a:srgbClr val="1C1F26">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841500"/>
            <a:ext cx="317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Voice Spoof Detection</a:t>
            </a:r>
            <a:endParaRPr lang="en-US" sz="1100"/>
          </a:p>
        </p:txBody>
      </p:sp>
      <p:sp>
        <p:nvSpPr>
          <p:cNvPr name="AutoShape 7" id="7"/>
          <p:cNvSpPr/>
          <p:nvPr/>
        </p:nvSpPr>
        <p:spPr>
          <a:xfrm rot="0" flipH="false" flipV="false">
            <a:off x="952500" y="2413000"/>
            <a:ext cx="317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CNN (Convolutional Neural Network)</a:t>
            </a:r>
            <a:endParaRPr lang="en-US" sz="1100"/>
          </a:p>
        </p:txBody>
      </p:sp>
      <p:sp>
        <p:nvSpPr>
          <p:cNvPr name="AutoShape 8" id="8"/>
          <p:cNvSpPr/>
          <p:nvPr/>
        </p:nvSpPr>
        <p:spPr>
          <a:xfrm rot="0" flipH="false" flipV="false">
            <a:off x="952500" y="2921000"/>
            <a:ext cx="323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精准识别音频中的数字合成特征，有效检测语音是否为AI伪造，构筑第一道声音安全防线。</a:t>
            </a:r>
            <a:endParaRPr lang="en-US" sz="1100"/>
          </a:p>
        </p:txBody>
      </p:sp>
      <p:sp>
        <p:nvSpPr>
          <p:cNvPr name="AutoShape 9" id="9"/>
          <p:cNvSpPr/>
          <p:nvPr/>
        </p:nvSpPr>
        <p:spPr>
          <a:xfrm rot="0" flipH="false" flipV="false">
            <a:off x="4381500" y="1651000"/>
            <a:ext cx="3492500" cy="2159000"/>
          </a:xfrm>
          <a:prstGeom prst="roundRect">
            <a:avLst>
              <a:gd name="adj" fmla="val 0"/>
            </a:avLst>
          </a:prstGeom>
          <a:solidFill>
            <a:srgbClr val="1C1F26">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3815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572000" y="1841500"/>
            <a:ext cx="317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Speech Recognition</a:t>
            </a:r>
            <a:endParaRPr lang="en-US" sz="1100"/>
          </a:p>
        </p:txBody>
      </p:sp>
      <p:sp>
        <p:nvSpPr>
          <p:cNvPr name="AutoShape 12" id="12"/>
          <p:cNvSpPr/>
          <p:nvPr/>
        </p:nvSpPr>
        <p:spPr>
          <a:xfrm rot="0" flipH="false" flipV="false">
            <a:off x="4572000" y="2413000"/>
            <a:ext cx="317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Faster-Whisper Model</a:t>
            </a:r>
            <a:endParaRPr lang="en-US" sz="1100"/>
          </a:p>
        </p:txBody>
      </p:sp>
      <p:sp>
        <p:nvSpPr>
          <p:cNvPr name="AutoShape 13" id="13"/>
          <p:cNvSpPr/>
          <p:nvPr/>
        </p:nvSpPr>
        <p:spPr>
          <a:xfrm rot="0" flipH="false" flipV="false">
            <a:off x="4572000" y="2921000"/>
            <a:ext cx="323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基于优化的Transformer架构，将原始语音流高效、高准确率地转换为可分析的文本数据，支持实时处理。</a:t>
            </a:r>
            <a:endParaRPr lang="en-US" sz="1100"/>
          </a:p>
        </p:txBody>
      </p:sp>
      <p:sp>
        <p:nvSpPr>
          <p:cNvPr name="AutoShape 14" id="14"/>
          <p:cNvSpPr/>
          <p:nvPr/>
        </p:nvSpPr>
        <p:spPr>
          <a:xfrm rot="0" flipH="false" flipV="false">
            <a:off x="8001000" y="1651000"/>
            <a:ext cx="3492500" cy="2159000"/>
          </a:xfrm>
          <a:prstGeom prst="roundRect">
            <a:avLst>
              <a:gd name="adj" fmla="val 0"/>
            </a:avLst>
          </a:prstGeom>
          <a:solidFill>
            <a:srgbClr val="1C1F26">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0010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91500" y="1841500"/>
            <a:ext cx="317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AI Reasoning &amp; Analysis</a:t>
            </a:r>
            <a:endParaRPr lang="en-US" sz="1100"/>
          </a:p>
        </p:txBody>
      </p:sp>
      <p:sp>
        <p:nvSpPr>
          <p:cNvPr name="AutoShape 17" id="17"/>
          <p:cNvSpPr/>
          <p:nvPr/>
        </p:nvSpPr>
        <p:spPr>
          <a:xfrm rot="0" flipH="false" flipV="false">
            <a:off x="8191500" y="2413000"/>
            <a:ext cx="317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Google Gemma4 LLM</a:t>
            </a:r>
            <a:endParaRPr lang="en-US" sz="1100"/>
          </a:p>
        </p:txBody>
      </p:sp>
      <p:sp>
        <p:nvSpPr>
          <p:cNvPr name="AutoShape 18" id="18"/>
          <p:cNvSpPr/>
          <p:nvPr/>
        </p:nvSpPr>
        <p:spPr>
          <a:xfrm rot="0" flipH="false" flipV="false">
            <a:off x="8191500" y="2921000"/>
            <a:ext cx="323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利用大模型的语境理解能力，深度分析文本语义，精准识别诈骗话术特征与逻辑陷阱，提供风险预警。</a:t>
            </a:r>
            <a:endParaRPr lang="en-US" sz="1100"/>
          </a:p>
        </p:txBody>
      </p:sp>
      <p:sp>
        <p:nvSpPr>
          <p:cNvPr name="AutoShape 19" id="19"/>
          <p:cNvSpPr/>
          <p:nvPr/>
        </p:nvSpPr>
        <p:spPr>
          <a:xfrm rot="0" flipH="false" flipV="false">
            <a:off x="762000" y="4064000"/>
            <a:ext cx="3492500" cy="2159000"/>
          </a:xfrm>
          <a:prstGeom prst="roundRect">
            <a:avLst>
              <a:gd name="adj" fmla="val 0"/>
            </a:avLst>
          </a:prstGeom>
          <a:solidFill>
            <a:srgbClr val="1C1F26">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4064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52500" y="4254500"/>
            <a:ext cx="317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Interactive Frontend</a:t>
            </a:r>
            <a:endParaRPr lang="en-US" sz="1100"/>
          </a:p>
        </p:txBody>
      </p:sp>
      <p:sp>
        <p:nvSpPr>
          <p:cNvPr name="AutoShape 22" id="22"/>
          <p:cNvSpPr/>
          <p:nvPr/>
        </p:nvSpPr>
        <p:spPr>
          <a:xfrm rot="0" flipH="false" flipV="false">
            <a:off x="952500" y="4826000"/>
            <a:ext cx="317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Gradio Web Framework</a:t>
            </a:r>
            <a:endParaRPr lang="en-US" sz="1100"/>
          </a:p>
        </p:txBody>
      </p:sp>
      <p:sp>
        <p:nvSpPr>
          <p:cNvPr name="AutoShape 23" id="23"/>
          <p:cNvSpPr/>
          <p:nvPr/>
        </p:nvSpPr>
        <p:spPr>
          <a:xfrm rot="0" flipH="false" flipV="false">
            <a:off x="952500" y="5334000"/>
            <a:ext cx="323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快速构建轻量级、功能完备的Web交互界面，支持用户上传音频、实时调用模型并直观查看检测结果。</a:t>
            </a:r>
            <a:endParaRPr lang="en-US" sz="1100"/>
          </a:p>
        </p:txBody>
      </p:sp>
      <p:sp>
        <p:nvSpPr>
          <p:cNvPr name="AutoShape 24" id="24"/>
          <p:cNvSpPr/>
          <p:nvPr/>
        </p:nvSpPr>
        <p:spPr>
          <a:xfrm rot="0" flipH="false" flipV="false">
            <a:off x="4381500" y="4064000"/>
            <a:ext cx="3492500" cy="2159000"/>
          </a:xfrm>
          <a:prstGeom prst="roundRect">
            <a:avLst>
              <a:gd name="adj" fmla="val 0"/>
            </a:avLst>
          </a:prstGeom>
          <a:solidFill>
            <a:srgbClr val="1C1F26">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381500" y="4064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572000" y="4254500"/>
            <a:ext cx="317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Cloud Deployment</a:t>
            </a:r>
            <a:endParaRPr lang="en-US" sz="1100"/>
          </a:p>
        </p:txBody>
      </p:sp>
      <p:sp>
        <p:nvSpPr>
          <p:cNvPr name="AutoShape 27" id="27"/>
          <p:cNvSpPr/>
          <p:nvPr/>
        </p:nvSpPr>
        <p:spPr>
          <a:xfrm rot="0" flipH="false" flipV="false">
            <a:off x="4572000" y="4826000"/>
            <a:ext cx="317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HuggingFace Spaces</a:t>
            </a:r>
            <a:endParaRPr lang="en-US" sz="1100"/>
          </a:p>
        </p:txBody>
      </p:sp>
      <p:sp>
        <p:nvSpPr>
          <p:cNvPr name="AutoShape 28" id="28"/>
          <p:cNvSpPr/>
          <p:nvPr/>
        </p:nvSpPr>
        <p:spPr>
          <a:xfrm rot="0" flipH="false" flipV="false">
            <a:off x="4572000" y="5334000"/>
            <a:ext cx="323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基于容器化技术的一站式部署平台，实现模型的快速上线、弹性伸缩与全球可访问的在线演示服务。</a:t>
            </a:r>
            <a:endParaRPr lang="en-US" sz="1100"/>
          </a:p>
        </p:txBody>
      </p:sp>
      <p:sp>
        <p:nvSpPr>
          <p:cNvPr name="AutoShape 29" id="29"/>
          <p:cNvSpPr/>
          <p:nvPr/>
        </p:nvSpPr>
        <p:spPr>
          <a:xfrm rot="0" flipH="false" flipV="false">
            <a:off x="8001000" y="4064000"/>
            <a:ext cx="3492500" cy="2159000"/>
          </a:xfrm>
          <a:prstGeom prst="roundRect">
            <a:avLst>
              <a:gd name="adj" fmla="val 0"/>
            </a:avLst>
          </a:prstGeom>
          <a:solidFill>
            <a:srgbClr val="1C1F26">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001000" y="4064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8191500" y="4254500"/>
            <a:ext cx="317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Audio Feature Extraction</a:t>
            </a:r>
            <a:endParaRPr lang="en-US" sz="1100"/>
          </a:p>
        </p:txBody>
      </p:sp>
      <p:sp>
        <p:nvSpPr>
          <p:cNvPr name="AutoShape 32" id="32"/>
          <p:cNvSpPr/>
          <p:nvPr/>
        </p:nvSpPr>
        <p:spPr>
          <a:xfrm rot="0" flipH="false" flipV="false">
            <a:off x="8191500" y="4826000"/>
            <a:ext cx="317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Log-Mel Spectrogram</a:t>
            </a:r>
            <a:endParaRPr lang="en-US" sz="1100"/>
          </a:p>
        </p:txBody>
      </p:sp>
      <p:sp>
        <p:nvSpPr>
          <p:cNvPr name="AutoShape 33" id="33"/>
          <p:cNvSpPr/>
          <p:nvPr/>
        </p:nvSpPr>
        <p:spPr>
          <a:xfrm rot="0" flipH="false" flipV="false">
            <a:off x="8191500" y="5334000"/>
            <a:ext cx="323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将时域音频信号转换为符合人类听觉感知的频域特征图，为CNN模型提供高质量的输入数据以进行模式识别。</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CNN Voice Spoof Detection: Benchmark Performance</a:t>
            </a:r>
            <a:endParaRPr lang="en-US" sz="1100"/>
          </a:p>
        </p:txBody>
      </p:sp>
      <p:sp>
        <p:nvSpPr>
          <p:cNvPr name="AutoShape 4" id="4"/>
          <p:cNvSpPr/>
          <p:nvPr/>
        </p:nvSpPr>
        <p:spPr>
          <a:xfrm rot="0" flipH="false" flipV="false">
            <a:off x="762000" y="1651000"/>
            <a:ext cx="5270500" cy="2794000"/>
          </a:xfrm>
          <a:prstGeom prst="roundRect">
            <a:avLst>
              <a:gd name="adj" fmla="val 0"/>
            </a:avLst>
          </a:prstGeom>
          <a:solidFill>
            <a:srgbClr val="191E23">
              <a:alpha val="88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0800" cy="2794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Training Setup</a:t>
            </a:r>
            <a:endParaRPr lang="en-US" sz="1100"/>
          </a:p>
        </p:txBody>
      </p:sp>
      <p:sp>
        <p:nvSpPr>
          <p:cNvPr name="AutoShape 7" id="7"/>
          <p:cNvSpPr/>
          <p:nvPr/>
        </p:nvSpPr>
        <p:spPr>
          <a:xfrm rot="0" flipH="false" flipV="false">
            <a:off x="1016000" y="2413000"/>
            <a:ext cx="2349500" cy="1778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2540000"/>
            <a:ext cx="2095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2C55E"/>
                </a:solidFill>
                <a:latin typeface="Noto Sans SC"/>
                <a:ea typeface="Noto Sans SC"/>
                <a:cs typeface="Noto Sans SC"/>
                <a:sym typeface="Noto Sans SC"/>
              </a:rPr>
              <a:t>Model Backbone</a:t>
            </a:r>
            <a:endParaRPr lang="en-US" sz="1100"/>
          </a:p>
        </p:txBody>
      </p:sp>
      <p:sp>
        <p:nvSpPr>
          <p:cNvPr name="AutoShape 9" id="9"/>
          <p:cNvSpPr/>
          <p:nvPr/>
        </p:nvSpPr>
        <p:spPr>
          <a:xfrm rot="0" flipH="false" flipV="false">
            <a:off x="1143000" y="30480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CNN architecture trained on raw spectrogram features, optimized for capturing subtle audio anomalies in voice signals.</a:t>
            </a:r>
            <a:endParaRPr lang="en-US" sz="1100"/>
          </a:p>
        </p:txBody>
      </p:sp>
      <p:sp>
        <p:nvSpPr>
          <p:cNvPr name="AutoShape 10" id="10"/>
          <p:cNvSpPr/>
          <p:nvPr/>
        </p:nvSpPr>
        <p:spPr>
          <a:xfrm rot="0" flipH="false" flipV="false">
            <a:off x="3492500" y="2413000"/>
            <a:ext cx="2349500" cy="1778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619500" y="2540000"/>
            <a:ext cx="2095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2C55E"/>
                </a:solidFill>
                <a:latin typeface="Noto Sans SC"/>
                <a:ea typeface="Noto Sans SC"/>
                <a:cs typeface="Noto Sans SC"/>
                <a:sym typeface="Noto Sans SC"/>
              </a:rPr>
              <a:t>ASVspoof Dataset</a:t>
            </a:r>
            <a:endParaRPr lang="en-US" sz="1100"/>
          </a:p>
        </p:txBody>
      </p:sp>
      <p:sp>
        <p:nvSpPr>
          <p:cNvPr name="AutoShape 12" id="12"/>
          <p:cNvSpPr/>
          <p:nvPr/>
        </p:nvSpPr>
        <p:spPr>
          <a:xfrm rot="0" flipH="false" flipV="false">
            <a:off x="3619500" y="30480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Leveraging ~110,000 high-quality clean training samples to establish a robust baseline for generalization across spoofing attacks.</a:t>
            </a:r>
            <a:endParaRPr lang="en-US" sz="1100"/>
          </a:p>
        </p:txBody>
      </p:sp>
      <p:sp>
        <p:nvSpPr>
          <p:cNvPr name="AutoShape 13" id="13"/>
          <p:cNvSpPr/>
          <p:nvPr/>
        </p:nvSpPr>
        <p:spPr>
          <a:xfrm rot="0" flipH="false" flipV="false">
            <a:off x="6286500" y="1651000"/>
            <a:ext cx="5270500" cy="2794000"/>
          </a:xfrm>
          <a:prstGeom prst="roundRect">
            <a:avLst>
              <a:gd name="adj" fmla="val 0"/>
            </a:avLst>
          </a:prstGeom>
          <a:solidFill>
            <a:srgbClr val="191E23">
              <a:alpha val="88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86500" y="1651000"/>
            <a:ext cx="50800" cy="2794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540500" y="1778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Key Performance Metric (EER)</a:t>
            </a:r>
            <a:endParaRPr lang="en-US" sz="1100"/>
          </a:p>
        </p:txBody>
      </p:sp>
      <p:sp>
        <p:nvSpPr>
          <p:cNvPr name="AutoShape 16" id="16"/>
          <p:cNvSpPr/>
          <p:nvPr/>
        </p:nvSpPr>
        <p:spPr>
          <a:xfrm rot="0" flipH="false" flipV="false">
            <a:off x="6540500" y="2413000"/>
            <a:ext cx="4826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22C55E"/>
                </a:solidFill>
                <a:latin typeface="Noto Sans SC"/>
                <a:ea typeface="Noto Sans SC"/>
                <a:cs typeface="Noto Sans SC"/>
                <a:sym typeface="Noto Sans SC"/>
              </a:rPr>
              <a:t>≈ 0.00134</a:t>
            </a:r>
            <a:endParaRPr lang="en-US" sz="1100"/>
          </a:p>
        </p:txBody>
      </p:sp>
      <p:sp>
        <p:nvSpPr>
          <p:cNvPr name="AutoShape 17" id="17"/>
          <p:cNvSpPr/>
          <p:nvPr/>
        </p:nvSpPr>
        <p:spPr>
          <a:xfrm rot="0" flipH="false" flipV="false">
            <a:off x="6540500" y="3429000"/>
            <a:ext cx="4762500" cy="8890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67500" y="3492500"/>
            <a:ext cx="450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5E7EB"/>
                </a:solidFill>
                <a:latin typeface="Noto Sans SC"/>
                <a:ea typeface="Noto Sans SC"/>
                <a:cs typeface="Noto Sans SC"/>
                <a:sym typeface="Noto Sans SC"/>
              </a:rPr>
              <a:t>This ultra-low Equal Error Rate demonstrates near-perfect spoof detection capability under ideal, controlled laboratory conditions, setting a new benchmark for precision.</a:t>
            </a:r>
            <a:endParaRPr lang="en-US" sz="1100"/>
          </a:p>
        </p:txBody>
      </p:sp>
      <p:sp>
        <p:nvSpPr>
          <p:cNvPr name="AutoShape 19" id="19"/>
          <p:cNvSpPr/>
          <p:nvPr/>
        </p:nvSpPr>
        <p:spPr>
          <a:xfrm rot="0" flipH="false" flipV="false">
            <a:off x="762000" y="4635500"/>
            <a:ext cx="10795000" cy="1714500"/>
          </a:xfrm>
          <a:prstGeom prst="roundRect">
            <a:avLst>
              <a:gd name="adj" fmla="val 0"/>
            </a:avLst>
          </a:prstGeom>
          <a:solidFill>
            <a:srgbClr val="0F1419">
              <a:alpha val="92000"/>
            </a:srgbClr>
          </a:solidFill>
          <a:ln w="12700" cmpd="sng" cap="flat">
            <a:solidFill>
              <a:srgbClr val="4B5563">
                <a:alpha val="5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4635500"/>
            <a:ext cx="50800" cy="1714500"/>
          </a:xfrm>
          <a:prstGeom prst="roundRect">
            <a:avLst>
              <a:gd name="adj" fmla="val 0"/>
            </a:avLst>
          </a:prstGeom>
          <a:solidFill>
            <a:srgbClr val="34D399">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79500" y="4826000"/>
            <a:ext cx="1003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Validation of Core Detection Capabilities</a:t>
            </a:r>
            <a:endParaRPr lang="en-US" sz="1100"/>
          </a:p>
        </p:txBody>
      </p:sp>
      <p:sp>
        <p:nvSpPr>
          <p:cNvPr name="AutoShape 22" id="22"/>
          <p:cNvSpPr/>
          <p:nvPr/>
        </p:nvSpPr>
        <p:spPr>
          <a:xfrm rot="0" flipH="false" flipV="false">
            <a:off x="1079500" y="5397500"/>
            <a:ext cx="10033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B4B9C3"/>
                </a:solidFill>
                <a:latin typeface="Noto Sans SC"/>
                <a:ea typeface="Noto Sans SC"/>
                <a:cs typeface="Noto Sans SC"/>
                <a:sym typeface="Noto Sans SC"/>
              </a:rPr>
              <a:t>The benchmark results validate the CNN model's efficacy in identifying synthetic voice manipulations. With an EER this close to zero, the system establishes a high-confidence foundation for real-world deployment, where it can reliably distinguish between genuine human voices and sophisticated AI-generated spoofs under pristine audio conditions.</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4">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92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The Reality Check: Real-World Dataset Problem</a:t>
            </a:r>
            <a:endParaRPr lang="en-US" sz="1100"/>
          </a:p>
        </p:txBody>
      </p:sp>
      <p:sp>
        <p:nvSpPr>
          <p:cNvPr name="AutoShape 4" id="4"/>
          <p:cNvSpPr/>
          <p:nvPr/>
        </p:nvSpPr>
        <p:spPr>
          <a:xfrm rot="0" flipH="false" flipV="false">
            <a:off x="762000" y="1651000"/>
            <a:ext cx="5588000" cy="1587500"/>
          </a:xfrm>
          <a:prstGeom prst="roundRect">
            <a:avLst>
              <a:gd name="adj" fmla="val 0"/>
            </a:avLst>
          </a:prstGeom>
          <a:solidFill>
            <a:srgbClr val="1A202C">
              <a:alpha val="85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27200"/>
            <a:ext cx="520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核心问题：严重的领域断层 (Domain Gap)</a:t>
            </a:r>
            <a:endParaRPr lang="en-US" sz="1100"/>
          </a:p>
        </p:txBody>
      </p:sp>
      <p:sp>
        <p:nvSpPr>
          <p:cNvPr name="AutoShape 7" id="7"/>
          <p:cNvSpPr/>
          <p:nvPr/>
        </p:nvSpPr>
        <p:spPr>
          <a:xfrm rot="0" flipH="false" flipV="false">
            <a:off x="952500" y="2159000"/>
            <a:ext cx="5270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模型在实验室受控环境中表现优异，但在面对真实世界音频时性能急剧下滑。这揭示了训练数据与实际应用场景之间存在难以忽视的领域差异，导致模型无法有效泛化。</a:t>
            </a:r>
            <a:endParaRPr lang="en-US" sz="1100"/>
          </a:p>
        </p:txBody>
      </p:sp>
      <p:sp>
        <p:nvSpPr>
          <p:cNvPr name="AutoShape 8" id="8"/>
          <p:cNvSpPr/>
          <p:nvPr/>
        </p:nvSpPr>
        <p:spPr>
          <a:xfrm rot="0" flipH="false" flipV="false">
            <a:off x="762000" y="3365500"/>
            <a:ext cx="5588000" cy="1587500"/>
          </a:xfrm>
          <a:prstGeom prst="roundRect">
            <a:avLst>
              <a:gd name="adj" fmla="val 0"/>
            </a:avLst>
          </a:prstGeom>
          <a:solidFill>
            <a:srgbClr val="1A202C">
              <a:alpha val="85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365500"/>
            <a:ext cx="50800" cy="15875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3441700"/>
            <a:ext cx="520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真实世界数据集：100+ 高挑战性样本</a:t>
            </a:r>
            <a:endParaRPr lang="en-US" sz="1100"/>
          </a:p>
        </p:txBody>
      </p:sp>
      <p:sp>
        <p:nvSpPr>
          <p:cNvPr name="AutoShape 11" id="11"/>
          <p:cNvSpPr/>
          <p:nvPr/>
        </p:nvSpPr>
        <p:spPr>
          <a:xfrm rot="0" flipH="false" flipV="false">
            <a:off x="952500" y="3873500"/>
            <a:ext cx="5270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alpha val="94902"/>
                  </a:srgbClr>
                </a:solidFill>
                <a:latin typeface="Noto Sans SC"/>
                <a:ea typeface="Noto Sans SC"/>
                <a:cs typeface="Noto Sans SC"/>
                <a:sym typeface="Noto Sans SC"/>
              </a:rPr>
              <a:t>为复现真实挑战，我们手动采集了包含环境噪音、电话通话音质、低码率压缩语音、重放攻击以及不同麦克风硬件差异的混合数据集，全面模拟了用户在非理想条件下的使用情况。</a:t>
            </a:r>
            <a:endParaRPr lang="en-US" sz="1100"/>
          </a:p>
        </p:txBody>
      </p:sp>
      <p:sp>
        <p:nvSpPr>
          <p:cNvPr name="AutoShape 12" id="12"/>
          <p:cNvSpPr/>
          <p:nvPr/>
        </p:nvSpPr>
        <p:spPr>
          <a:xfrm rot="0" flipH="false" flipV="false">
            <a:off x="762000" y="5080000"/>
            <a:ext cx="5588000" cy="1397000"/>
          </a:xfrm>
          <a:prstGeom prst="roundRect">
            <a:avLst>
              <a:gd name="adj" fmla="val 0"/>
            </a:avLst>
          </a:prstGeom>
          <a:solidFill>
            <a:srgbClr val="22C55E">
              <a:alpha val="12000"/>
            </a:srgbClr>
          </a:solidFill>
          <a:ln w="12700" cmpd="sng" cap="flat">
            <a:solidFill>
              <a:srgbClr val="22C55E">
                <a:alpha val="8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52500" y="5143500"/>
            <a:ext cx="520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实测警示：性能显著退化</a:t>
            </a:r>
            <a:endParaRPr lang="en-US" sz="1100"/>
          </a:p>
        </p:txBody>
      </p:sp>
      <p:sp>
        <p:nvSpPr>
          <p:cNvPr name="AutoShape 14" id="14"/>
          <p:cNvSpPr/>
          <p:nvPr/>
        </p:nvSpPr>
        <p:spPr>
          <a:xfrm rot="0" flipH="false" flipV="false">
            <a:off x="952500" y="5588000"/>
            <a:ext cx="5270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BD5E1"/>
                </a:solidFill>
                <a:latin typeface="Noto Sans SC"/>
                <a:ea typeface="Noto Sans SC"/>
                <a:cs typeface="Noto Sans SC"/>
                <a:sym typeface="Noto Sans SC"/>
              </a:rPr>
              <a:t>直接在该真实小样本集上训练后，模型的等错误率（EER）飙升至约 0.30，这一数据直观地量化了当前技术在实际落地前必须解决的核心障碍。</a:t>
            </a:r>
            <a:endParaRPr lang="en-US" sz="1100"/>
          </a:p>
        </p:txBody>
      </p:sp>
      <p:cxnSp>
        <p:nvCxnSpPr>
          <p:cNvPr name="Connector 15" id="15"/>
          <p:cNvCxnSpPr/>
          <p:nvPr/>
        </p:nvCxnSpPr>
        <p:spPr>
          <a:xfrm rot="5390953" flipH="false" flipV="false">
            <a:off x="4191000" y="4057658"/>
            <a:ext cx="4826000" cy="12700"/>
          </a:xfrm>
          <a:prstGeom prst="straightConnector1">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pic>
        <p:nvPicPr>
          <p:cNvPr name="Picture 16" id="16"/>
          <p:cNvPicPr>
            <a:picLocks noChangeAspect="true"/>
          </p:cNvPicPr>
          <p:nvPr/>
        </p:nvPicPr>
        <p:blipFill>
          <a:blip r:embed="rId3"/>
          <a:srcRect l="0" r="0" t="4850" b="4850"/>
          <a:stretch>
            <a:fillRect/>
          </a:stretch>
        </p:blipFill>
        <p:spPr>
          <a:xfrm rot="0" flipH="false" flipV="false">
            <a:off x="6794500" y="1651000"/>
            <a:ext cx="4953000" cy="2794000"/>
          </a:xfrm>
          <a:prstGeom prst="rect">
            <a:avLst/>
          </a:prstGeom>
          <a:noFill/>
          <a:ln w="12700" cmpd="sng" cap="flat">
            <a:solidFill>
              <a:srgbClr val="FFFFFF">
                <a:alpha val="20000"/>
              </a:srgbClr>
            </a:solidFill>
            <a:prstDash val="solid"/>
            <a:round/>
          </a:ln>
        </p:spPr>
      </p:pic>
      <p:sp>
        <p:nvSpPr>
          <p:cNvPr name="AutoShape 17" id="17"/>
          <p:cNvSpPr/>
          <p:nvPr/>
        </p:nvSpPr>
        <p:spPr>
          <a:xfrm rot="0" flipH="false" flipV="false">
            <a:off x="6794500" y="4635500"/>
            <a:ext cx="4953000" cy="1968500"/>
          </a:xfrm>
          <a:prstGeom prst="roundRect">
            <a:avLst>
              <a:gd name="adj" fmla="val 0"/>
            </a:avLst>
          </a:prstGeom>
          <a:solidFill>
            <a:srgbClr val="0F172A">
              <a:alpha val="92000"/>
            </a:srgbClr>
          </a:solidFill>
          <a:ln w="12700" cmpd="sng" cap="flat">
            <a:solidFill>
              <a:srgbClr val="22C55E">
                <a:alpha val="6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794500" y="4635500"/>
            <a:ext cx="4953000" cy="635000"/>
          </a:xfrm>
          <a:prstGeom prst="roundRect">
            <a:avLst>
              <a:gd name="adj" fmla="val 0"/>
            </a:avLst>
          </a:prstGeom>
          <a:solidFill>
            <a:srgbClr val="22C55E">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921500" y="4673600"/>
            <a:ext cx="4699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EER ≈ 0.30</a:t>
            </a:r>
            <a:r>
              <a:rPr lang="en-US" b="false" i="false" strike="noStrike" u="none" sz="1400">
                <a:solidFill>
                  <a:srgbClr val="FFFFFF">
                    <a:alpha val="90196"/>
                  </a:srgbClr>
                </a:solidFill>
                <a:latin typeface="Noto Sans SC"/>
                <a:ea typeface="Noto Sans SC"/>
                <a:cs typeface="Noto Sans SC"/>
                <a:sym typeface="Noto Sans SC"/>
              </a:rPr>
              <a:t>| 模型泛化能力临界值</a:t>
            </a:r>
            <a:endParaRPr lang="en-US" sz="1100"/>
          </a:p>
        </p:txBody>
      </p:sp>
      <p:sp>
        <p:nvSpPr>
          <p:cNvPr name="AutoShape 20" id="20"/>
          <p:cNvSpPr/>
          <p:nvPr/>
        </p:nvSpPr>
        <p:spPr>
          <a:xfrm rot="0" flipH="false" flipV="false">
            <a:off x="6921500" y="53975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BD5E1">
                    <a:alpha val="94902"/>
                  </a:srgbClr>
                </a:solidFill>
                <a:latin typeface="Noto Sans SC"/>
                <a:ea typeface="Noto Sans SC"/>
                <a:cs typeface="Noto Sans SC"/>
                <a:sym typeface="Noto Sans SC"/>
              </a:rPr>
              <a:t>图表清晰地描绘了从纯净实验室数据到复杂真实场景的性能轨迹。这一显著的准确率下跌（从95.0%降至32.0%）不仅是一个负面结果，更是我们后续构建增强数据集、优化鲁棒性算法的关键起点。</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Data Augmentation &amp; Transfer Learning</a:t>
            </a:r>
            <a:endParaRPr lang="en-US" sz="1100"/>
          </a:p>
        </p:txBody>
      </p:sp>
      <p:sp>
        <p:nvSpPr>
          <p:cNvPr name="AutoShape 4" id="4"/>
          <p:cNvSpPr/>
          <p:nvPr/>
        </p:nvSpPr>
        <p:spPr>
          <a:xfrm rot="0" flipH="false" flipV="false">
            <a:off x="762000" y="1651000"/>
            <a:ext cx="5270500" cy="2095500"/>
          </a:xfrm>
          <a:prstGeom prst="roundRect">
            <a:avLst>
              <a:gd name="adj" fmla="val 0"/>
            </a:avLst>
          </a:prstGeom>
          <a:solidFill>
            <a:srgbClr val="1C232D">
              <a:alpha val="92000"/>
            </a:srgbClr>
          </a:solidFill>
          <a:ln w="12700" cmpd="sng" cap="flat">
            <a:solidFill>
              <a:srgbClr val="22C55E">
                <a:alpha val="4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270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78000"/>
            <a:ext cx="4889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Custom Augmentation Pipeline</a:t>
            </a:r>
            <a:endParaRPr lang="en-US" sz="1100"/>
          </a:p>
        </p:txBody>
      </p:sp>
      <p:sp>
        <p:nvSpPr>
          <p:cNvPr name="AutoShape 7" id="7"/>
          <p:cNvSpPr/>
          <p:nvPr/>
        </p:nvSpPr>
        <p:spPr>
          <a:xfrm rot="0" flipH="false" flipV="false">
            <a:off x="952500" y="2286000"/>
            <a:ext cx="4889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E2E8F0"/>
                </a:solidFill>
                <a:latin typeface="Noto Sans SC"/>
                <a:ea typeface="Noto Sans SC"/>
                <a:cs typeface="Noto Sans SC"/>
                <a:sym typeface="Noto Sans SC"/>
              </a:rPr>
              <a:t>从100个稀缺原始样本扩展至约 50,000 个高质量增强样本，构建丰富的声学特征空间。</a:t>
            </a:r>
            <a:endParaRPr lang="en-US" sz="1100"/>
          </a:p>
        </p:txBody>
      </p:sp>
      <p:sp>
        <p:nvSpPr>
          <p:cNvPr name="AutoShape 8" id="8"/>
          <p:cNvSpPr/>
          <p:nvPr/>
        </p:nvSpPr>
        <p:spPr>
          <a:xfrm rot="0" flipH="false" flipV="false">
            <a:off x="952500" y="3048000"/>
            <a:ext cx="4889500" cy="5715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79500" y="30734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B4BECD"/>
                </a:solidFill>
                <a:latin typeface="Noto Sans SC"/>
                <a:ea typeface="Noto Sans SC"/>
                <a:cs typeface="Noto Sans SC"/>
                <a:sym typeface="Noto Sans SC"/>
              </a:rPr>
              <a:t>核心技术：随机噪声注入、动态音调偏移、波形扰动与复杂环境下的重放攻击模拟。</a:t>
            </a:r>
            <a:endParaRPr lang="en-US" sz="1100"/>
          </a:p>
        </p:txBody>
      </p:sp>
      <p:sp>
        <p:nvSpPr>
          <p:cNvPr name="AutoShape 10" id="10"/>
          <p:cNvSpPr/>
          <p:nvPr/>
        </p:nvSpPr>
        <p:spPr>
          <a:xfrm rot="0" flipH="false" flipV="false">
            <a:off x="6223000" y="1651000"/>
            <a:ext cx="5270500" cy="2095500"/>
          </a:xfrm>
          <a:prstGeom prst="roundRect">
            <a:avLst>
              <a:gd name="adj" fmla="val 0"/>
            </a:avLst>
          </a:prstGeom>
          <a:solidFill>
            <a:srgbClr val="1C232D">
              <a:alpha val="92000"/>
            </a:srgbClr>
          </a:solidFill>
          <a:ln w="12700" cmpd="sng" cap="flat">
            <a:solidFill>
              <a:srgbClr val="22C55E">
                <a:alpha val="4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651000"/>
            <a:ext cx="5270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13500" y="1778000"/>
            <a:ext cx="4889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Transfer Learning Strategy</a:t>
            </a:r>
            <a:endParaRPr lang="en-US" sz="1100"/>
          </a:p>
        </p:txBody>
      </p:sp>
      <p:sp>
        <p:nvSpPr>
          <p:cNvPr name="AutoShape 13" id="13"/>
          <p:cNvSpPr/>
          <p:nvPr/>
        </p:nvSpPr>
        <p:spPr>
          <a:xfrm rot="0" flipH="false" flipV="false">
            <a:off x="6413500" y="2286000"/>
            <a:ext cx="4889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E2E8F0"/>
                </a:solidFill>
                <a:latin typeface="Noto Sans SC"/>
                <a:ea typeface="Noto Sans SC"/>
                <a:cs typeface="Noto Sans SC"/>
                <a:sym typeface="Noto Sans SC"/>
              </a:rPr>
              <a:t>复用在 110k ASVspoof 大规模公开数据集上预训练的 CNN 模型，降低从头训练的成本。</a:t>
            </a:r>
            <a:endParaRPr lang="en-US" sz="1100"/>
          </a:p>
        </p:txBody>
      </p:sp>
      <p:sp>
        <p:nvSpPr>
          <p:cNvPr name="AutoShape 14" id="14"/>
          <p:cNvSpPr/>
          <p:nvPr/>
        </p:nvSpPr>
        <p:spPr>
          <a:xfrm rot="0" flipH="false" flipV="false">
            <a:off x="6413500" y="3048000"/>
            <a:ext cx="4889500" cy="5715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540500" y="30734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B4BECD"/>
                </a:solidFill>
                <a:latin typeface="Noto Sans SC"/>
                <a:ea typeface="Noto Sans SC"/>
                <a:cs typeface="Noto Sans SC"/>
                <a:sym typeface="Noto Sans SC"/>
              </a:rPr>
              <a:t>执行策略：冻结特征提取层，仅对上层全连接网络进行微调，适配目标数据集分布。</a:t>
            </a:r>
            <a:endParaRPr lang="en-US" sz="1100"/>
          </a:p>
        </p:txBody>
      </p:sp>
      <p:sp>
        <p:nvSpPr>
          <p:cNvPr name="AutoShape 16" id="16"/>
          <p:cNvSpPr/>
          <p:nvPr/>
        </p:nvSpPr>
        <p:spPr>
          <a:xfrm rot="0" flipH="false" flipV="false">
            <a:off x="762000" y="4064000"/>
            <a:ext cx="4064000" cy="1714500"/>
          </a:xfrm>
          <a:prstGeom prst="roundRect">
            <a:avLst>
              <a:gd name="adj" fmla="val 0"/>
            </a:avLst>
          </a:prstGeom>
          <a:gradFill rotWithShape="true">
            <a:gsLst>
              <a:gs pos="0">
                <a:srgbClr val="22C55E">
                  <a:alpha val="92000"/>
                </a:srgbClr>
              </a:gs>
              <a:gs pos="100000">
                <a:srgbClr val="166534">
                  <a:alpha val="96000"/>
                </a:srgbClr>
              </a:gs>
            </a:gsLst>
            <a:lin ang="27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4191000"/>
            <a:ext cx="368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0FFF4">
                    <a:alpha val="94902"/>
                  </a:srgbClr>
                </a:solidFill>
                <a:latin typeface="Noto Sans SC"/>
                <a:ea typeface="Noto Sans SC"/>
                <a:cs typeface="Noto Sans SC"/>
                <a:sym typeface="Noto Sans SC"/>
              </a:rPr>
              <a:t>关键性能突破 (EER)</a:t>
            </a:r>
            <a:endParaRPr lang="en-US" sz="1100"/>
          </a:p>
        </p:txBody>
      </p:sp>
      <p:sp>
        <p:nvSpPr>
          <p:cNvPr name="AutoShape 18" id="18"/>
          <p:cNvSpPr/>
          <p:nvPr/>
        </p:nvSpPr>
        <p:spPr>
          <a:xfrm rot="0" flipH="false" flipV="false">
            <a:off x="952500" y="4572000"/>
            <a:ext cx="3683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200">
                <a:solidFill>
                  <a:srgbClr val="FFFFFF"/>
                </a:solidFill>
                <a:latin typeface="Noto Sans SC"/>
                <a:ea typeface="Noto Sans SC"/>
                <a:cs typeface="Noto Sans SC"/>
                <a:sym typeface="Noto Sans SC"/>
              </a:rPr>
              <a:t>≈ 0.03</a:t>
            </a:r>
            <a:endParaRPr lang="en-US" sz="1100"/>
          </a:p>
        </p:txBody>
      </p:sp>
      <p:sp>
        <p:nvSpPr>
          <p:cNvPr name="AutoShape 19" id="19"/>
          <p:cNvSpPr/>
          <p:nvPr/>
        </p:nvSpPr>
        <p:spPr>
          <a:xfrm rot="0" flipH="false" flipV="false">
            <a:off x="952500" y="5334000"/>
            <a:ext cx="3683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BBF7D0"/>
                </a:solidFill>
                <a:latin typeface="Noto Sans SC"/>
                <a:ea typeface="Noto Sans SC"/>
                <a:cs typeface="Noto Sans SC"/>
                <a:sym typeface="Noto Sans SC"/>
              </a:rPr>
              <a:t>显著优于传统小样本训练基线模型</a:t>
            </a:r>
            <a:endParaRPr lang="en-US" sz="1100"/>
          </a:p>
        </p:txBody>
      </p:sp>
      <p:sp>
        <p:nvSpPr>
          <p:cNvPr name="AutoShape 20" id="20"/>
          <p:cNvSpPr/>
          <p:nvPr/>
        </p:nvSpPr>
        <p:spPr>
          <a:xfrm rot="0" flipH="false" flipV="false">
            <a:off x="5207000" y="4064000"/>
            <a:ext cx="6477000" cy="1714500"/>
          </a:xfrm>
          <a:prstGeom prst="roundRect">
            <a:avLst>
              <a:gd name="adj" fmla="val 0"/>
            </a:avLst>
          </a:prstGeom>
          <a:solidFill>
            <a:srgbClr val="141923">
              <a:alpha val="88000"/>
            </a:srgbClr>
          </a:solidFill>
          <a:ln w="12700" cmpd="sng" cap="flat">
            <a:solidFill>
              <a:srgbClr val="505A69">
                <a:alpha val="7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334000" y="4191000"/>
            <a:ext cx="1460500" cy="762000"/>
          </a:xfrm>
          <a:prstGeom prst="roundRect">
            <a:avLst>
              <a:gd name="adj" fmla="val 0"/>
            </a:avLst>
          </a:prstGeom>
          <a:solidFill>
            <a:srgbClr val="22C55E">
              <a:alpha val="1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334000" y="4216400"/>
            <a:ext cx="14605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22C55E"/>
                </a:solidFill>
                <a:latin typeface="Noto Sans SC"/>
                <a:ea typeface="Noto Sans SC"/>
                <a:cs typeface="Noto Sans SC"/>
                <a:sym typeface="Noto Sans SC"/>
              </a:rPr>
              <a:t>原始数据</a:t>
            </a:r>
            <a:endParaRPr lang="en-US" sz="1100"/>
          </a:p>
        </p:txBody>
      </p:sp>
      <p:sp>
        <p:nvSpPr>
          <p:cNvPr name="AutoShape 23" id="23"/>
          <p:cNvSpPr/>
          <p:nvPr/>
        </p:nvSpPr>
        <p:spPr>
          <a:xfrm rot="0" flipH="false" flipV="false">
            <a:off x="5334000" y="4508500"/>
            <a:ext cx="14605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A0AAB4"/>
                </a:solidFill>
                <a:latin typeface="Noto Sans SC"/>
                <a:ea typeface="Noto Sans SC"/>
                <a:cs typeface="Noto Sans SC"/>
                <a:sym typeface="Noto Sans SC"/>
              </a:rPr>
              <a:t>100 Real Samples</a:t>
            </a:r>
            <a:endParaRPr lang="en-US" sz="1100"/>
          </a:p>
        </p:txBody>
      </p:sp>
      <p:sp>
        <p:nvSpPr>
          <p:cNvPr name="AutoShape 24" id="24"/>
          <p:cNvSpPr/>
          <p:nvPr/>
        </p:nvSpPr>
        <p:spPr>
          <a:xfrm rot="0" flipH="false" flipV="false">
            <a:off x="6858000" y="4254500"/>
            <a:ext cx="12700" cy="635000"/>
          </a:xfrm>
          <a:prstGeom prst="roundRect">
            <a:avLst>
              <a:gd name="adj" fmla="val 0"/>
            </a:avLst>
          </a:prstGeom>
          <a:solidFill>
            <a:srgbClr val="505A6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921500" y="4191000"/>
            <a:ext cx="1460500" cy="762000"/>
          </a:xfrm>
          <a:prstGeom prst="roundRect">
            <a:avLst>
              <a:gd name="adj" fmla="val 0"/>
            </a:avLst>
          </a:prstGeom>
          <a:solidFill>
            <a:srgbClr val="22C55E">
              <a:alpha val="1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921500" y="4216400"/>
            <a:ext cx="14605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22C55E"/>
                </a:solidFill>
                <a:latin typeface="Noto Sans SC"/>
                <a:ea typeface="Noto Sans SC"/>
                <a:cs typeface="Noto Sans SC"/>
                <a:sym typeface="Noto Sans SC"/>
              </a:rPr>
              <a:t>数据扩增</a:t>
            </a:r>
            <a:endParaRPr lang="en-US" sz="1100"/>
          </a:p>
        </p:txBody>
      </p:sp>
      <p:sp>
        <p:nvSpPr>
          <p:cNvPr name="AutoShape 27" id="27"/>
          <p:cNvSpPr/>
          <p:nvPr/>
        </p:nvSpPr>
        <p:spPr>
          <a:xfrm rot="0" flipH="false" flipV="false">
            <a:off x="6921500" y="4508500"/>
            <a:ext cx="14605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A0AAB4"/>
                </a:solidFill>
                <a:latin typeface="Noto Sans SC"/>
                <a:ea typeface="Noto Sans SC"/>
                <a:cs typeface="Noto Sans SC"/>
                <a:sym typeface="Noto Sans SC"/>
              </a:rPr>
              <a:t>→ 50k+ Variants</a:t>
            </a:r>
            <a:endParaRPr lang="en-US" sz="1100"/>
          </a:p>
        </p:txBody>
      </p:sp>
      <p:sp>
        <p:nvSpPr>
          <p:cNvPr name="AutoShape 28" id="28"/>
          <p:cNvSpPr/>
          <p:nvPr/>
        </p:nvSpPr>
        <p:spPr>
          <a:xfrm rot="0" flipH="false" flipV="false">
            <a:off x="8445500" y="4254500"/>
            <a:ext cx="12700" cy="635000"/>
          </a:xfrm>
          <a:prstGeom prst="roundRect">
            <a:avLst>
              <a:gd name="adj" fmla="val 0"/>
            </a:avLst>
          </a:prstGeom>
          <a:solidFill>
            <a:srgbClr val="505A6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509000" y="4191000"/>
            <a:ext cx="1460500" cy="762000"/>
          </a:xfrm>
          <a:prstGeom prst="roundRect">
            <a:avLst>
              <a:gd name="adj" fmla="val 0"/>
            </a:avLst>
          </a:prstGeom>
          <a:solidFill>
            <a:srgbClr val="22C55E">
              <a:alpha val="1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509000" y="4216400"/>
            <a:ext cx="14605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22C55E"/>
                </a:solidFill>
                <a:latin typeface="Noto Sans SC"/>
                <a:ea typeface="Noto Sans SC"/>
                <a:cs typeface="Noto Sans SC"/>
                <a:sym typeface="Noto Sans SC"/>
              </a:rPr>
              <a:t>模型适配</a:t>
            </a:r>
            <a:endParaRPr lang="en-US" sz="1100"/>
          </a:p>
        </p:txBody>
      </p:sp>
      <p:sp>
        <p:nvSpPr>
          <p:cNvPr name="AutoShape 31" id="31"/>
          <p:cNvSpPr/>
          <p:nvPr/>
        </p:nvSpPr>
        <p:spPr>
          <a:xfrm rot="0" flipH="false" flipV="false">
            <a:off x="8509000" y="4508500"/>
            <a:ext cx="14605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A0AAB4"/>
                </a:solidFill>
                <a:latin typeface="Noto Sans SC"/>
                <a:ea typeface="Noto Sans SC"/>
                <a:cs typeface="Noto Sans SC"/>
                <a:sym typeface="Noto Sans SC"/>
              </a:rPr>
              <a:t>Finetuning CNN</a:t>
            </a:r>
            <a:endParaRPr lang="en-US" sz="1100"/>
          </a:p>
        </p:txBody>
      </p:sp>
      <p:sp>
        <p:nvSpPr>
          <p:cNvPr name="AutoShape 32" id="32"/>
          <p:cNvSpPr/>
          <p:nvPr/>
        </p:nvSpPr>
        <p:spPr>
          <a:xfrm rot="0" flipH="false" flipV="false">
            <a:off x="5334000" y="5080000"/>
            <a:ext cx="6223000" cy="635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5461000" y="5143500"/>
            <a:ext cx="596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C8D2E1"/>
                </a:solidFill>
                <a:latin typeface="Noto Sans SC"/>
                <a:ea typeface="Noto Sans SC"/>
                <a:cs typeface="Noto Sans SC"/>
                <a:sym typeface="Noto Sans SC"/>
              </a:rPr>
              <a:t>通过“小样本扩增 + 预训练迁移”的组合策略，有效解决了数据稀缺带来的过拟合问题，实现了高精度的声学特征识别。</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Key Robustness Finding: The Illusion of Low EER</a:t>
            </a:r>
            <a:endParaRPr lang="en-US" sz="1100"/>
          </a:p>
        </p:txBody>
      </p:sp>
      <p:sp>
        <p:nvSpPr>
          <p:cNvPr name="AutoShape 4" id="4"/>
          <p:cNvSpPr/>
          <p:nvPr/>
        </p:nvSpPr>
        <p:spPr>
          <a:xfrm rot="0" flipH="false" flipV="false">
            <a:off x="762000" y="1651000"/>
            <a:ext cx="5207000" cy="2222500"/>
          </a:xfrm>
          <a:prstGeom prst="roundRect">
            <a:avLst>
              <a:gd name="adj" fmla="val 0"/>
            </a:avLst>
          </a:prstGeom>
          <a:solidFill>
            <a:srgbClr val="141419">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0800" cy="2222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Critical Discovery</a:t>
            </a:r>
            <a:endParaRPr lang="en-US" sz="1100"/>
          </a:p>
        </p:txBody>
      </p:sp>
      <p:sp>
        <p:nvSpPr>
          <p:cNvPr name="AutoShape 7" id="7"/>
          <p:cNvSpPr/>
          <p:nvPr/>
        </p:nvSpPr>
        <p:spPr>
          <a:xfrm rot="0" flipH="false" flipV="false">
            <a:off x="1016000" y="2349500"/>
            <a:ext cx="4699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BEBEB"/>
                </a:solidFill>
                <a:latin typeface="Noto Sans SC"/>
                <a:ea typeface="Noto Sans SC"/>
                <a:cs typeface="Noto Sans SC"/>
                <a:sym typeface="Noto Sans SC"/>
              </a:rPr>
              <a:t>An extremely low benchmark EER score does not inherently guarantee real-world robustness. Our tests revealed a significant disconnect between controlled lab performance and the model’s ability to handle unforeseen adversarial inputs in practical applications.</a:t>
            </a:r>
            <a:endParaRPr lang="en-US" sz="1100"/>
          </a:p>
        </p:txBody>
      </p:sp>
      <p:sp>
        <p:nvSpPr>
          <p:cNvPr name="AutoShape 8" id="8"/>
          <p:cNvSpPr/>
          <p:nvPr/>
        </p:nvSpPr>
        <p:spPr>
          <a:xfrm rot="0" flipH="false" flipV="false">
            <a:off x="6223000" y="1651000"/>
            <a:ext cx="5207000" cy="2222500"/>
          </a:xfrm>
          <a:prstGeom prst="roundRect">
            <a:avLst>
              <a:gd name="adj" fmla="val 0"/>
            </a:avLst>
          </a:prstGeom>
          <a:solidFill>
            <a:srgbClr val="141419">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651000"/>
            <a:ext cx="50800" cy="2222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1778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The Overfitting Issue</a:t>
            </a:r>
            <a:endParaRPr lang="en-US" sz="1100"/>
          </a:p>
        </p:txBody>
      </p:sp>
      <p:sp>
        <p:nvSpPr>
          <p:cNvPr name="AutoShape 11" id="11"/>
          <p:cNvSpPr/>
          <p:nvPr/>
        </p:nvSpPr>
        <p:spPr>
          <a:xfrm rot="0" flipH="false" flipV="false">
            <a:off x="6477000" y="2349500"/>
            <a:ext cx="4699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BEBEB"/>
                </a:solidFill>
                <a:latin typeface="Noto Sans SC"/>
                <a:ea typeface="Noto Sans SC"/>
                <a:cs typeface="Noto Sans SC"/>
                <a:sym typeface="Noto Sans SC"/>
              </a:rPr>
              <a:t>Post fine-tuning, the model excelled at recognizing genuine speech characteristics within our augmented dataset. However, it failed catastrophically when challenged with unseen real-world fake voices, as it had memorized dataset-specific patterns rather than learning generalizable spoof detection.</a:t>
            </a:r>
            <a:endParaRPr lang="en-US" sz="1100"/>
          </a:p>
        </p:txBody>
      </p:sp>
      <p:sp>
        <p:nvSpPr>
          <p:cNvPr name="AutoShape 12" id="12"/>
          <p:cNvSpPr/>
          <p:nvPr/>
        </p:nvSpPr>
        <p:spPr>
          <a:xfrm rot="0" flipH="false" flipV="false">
            <a:off x="762000" y="4064000"/>
            <a:ext cx="5207000" cy="2222500"/>
          </a:xfrm>
          <a:prstGeom prst="roundRect">
            <a:avLst>
              <a:gd name="adj" fmla="val 0"/>
            </a:avLst>
          </a:prstGeom>
          <a:solidFill>
            <a:srgbClr val="141419">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064000"/>
            <a:ext cx="50800" cy="2222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191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The Core Problem</a:t>
            </a:r>
            <a:endParaRPr lang="en-US" sz="1100"/>
          </a:p>
        </p:txBody>
      </p:sp>
      <p:sp>
        <p:nvSpPr>
          <p:cNvPr name="AutoShape 15" id="15"/>
          <p:cNvSpPr/>
          <p:nvPr/>
        </p:nvSpPr>
        <p:spPr>
          <a:xfrm rot="0" flipH="false" flipV="false">
            <a:off x="1016000" y="4762500"/>
            <a:ext cx="4699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BEBEB"/>
                </a:solidFill>
                <a:latin typeface="Noto Sans SC"/>
                <a:ea typeface="Noto Sans SC"/>
                <a:cs typeface="Noto Sans SC"/>
                <a:sym typeface="Noto Sans SC"/>
              </a:rPr>
              <a:t>The fundamental flaw was that the model learned to identify superficial "realness" cues from the training data, rather than mastering generalized spoof patterns. This meant it could not adapt to novel voice cloning techniques or synthetic speech variations encountered in the wild.</a:t>
            </a:r>
            <a:endParaRPr lang="en-US" sz="1100"/>
          </a:p>
        </p:txBody>
      </p:sp>
      <p:sp>
        <p:nvSpPr>
          <p:cNvPr name="AutoShape 16" id="16"/>
          <p:cNvSpPr/>
          <p:nvPr/>
        </p:nvSpPr>
        <p:spPr>
          <a:xfrm rot="0" flipH="false" flipV="false">
            <a:off x="6223000" y="4064000"/>
            <a:ext cx="5207000" cy="2222500"/>
          </a:xfrm>
          <a:prstGeom prst="roundRect">
            <a:avLst>
              <a:gd name="adj" fmla="val 0"/>
            </a:avLst>
          </a:prstGeom>
          <a:solidFill>
            <a:srgbClr val="141419">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064000"/>
            <a:ext cx="50800" cy="2222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4191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Current Deployment Strategy</a:t>
            </a:r>
            <a:endParaRPr lang="en-US" sz="1100"/>
          </a:p>
        </p:txBody>
      </p:sp>
      <p:sp>
        <p:nvSpPr>
          <p:cNvPr name="AutoShape 19" id="19"/>
          <p:cNvSpPr/>
          <p:nvPr/>
        </p:nvSpPr>
        <p:spPr>
          <a:xfrm rot="0" flipH="false" flipV="false">
            <a:off x="6477000" y="4762500"/>
            <a:ext cx="4699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BEBEB"/>
                </a:solidFill>
                <a:latin typeface="Noto Sans SC"/>
                <a:ea typeface="Noto Sans SC"/>
                <a:cs typeface="Noto Sans SC"/>
                <a:sym typeface="Noto Sans SC"/>
              </a:rPr>
              <a:t>To mitigate this risk, we have discarded the problematic real-world fine-tuning phase. The deployment plan now relies on the cleaner, more robust ASVspoof-trained baseline model, prioritizing generalization and long-term stability for real-world voice authentication scenarios.</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Gemma4 Integration: From Classifier to AI Safety Assistant</a:t>
            </a:r>
            <a:endParaRPr lang="en-US" sz="1100"/>
          </a:p>
        </p:txBody>
      </p:sp>
      <p:sp>
        <p:nvSpPr>
          <p:cNvPr name="AutoShape 4" id="4"/>
          <p:cNvSpPr/>
          <p:nvPr/>
        </p:nvSpPr>
        <p:spPr>
          <a:xfrm rot="0" flipH="false" flipV="false">
            <a:off x="762000" y="1651000"/>
            <a:ext cx="3492500" cy="2857500"/>
          </a:xfrm>
          <a:prstGeom prst="roundRect">
            <a:avLst>
              <a:gd name="adj" fmla="val 0"/>
            </a:avLst>
          </a:prstGeom>
          <a:solidFill>
            <a:srgbClr val="1C2024">
              <a:alpha val="85000"/>
            </a:srgbClr>
          </a:solidFill>
          <a:ln w="12700" cmpd="sng" cap="flat">
            <a:solidFill>
              <a:srgbClr val="525252">
                <a:alpha val="9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492500" cy="38100"/>
          </a:xfrm>
          <a:prstGeom prst="roundRect">
            <a:avLst>
              <a:gd name="adj" fmla="val 0"/>
            </a:avLst>
          </a:prstGeom>
          <a:solidFill>
            <a:srgbClr val="9CA3A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8415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5E7EB"/>
                </a:solidFill>
                <a:latin typeface="Noto Sans SC"/>
                <a:ea typeface="Noto Sans SC"/>
                <a:cs typeface="Noto Sans SC"/>
                <a:sym typeface="Noto Sans SC"/>
              </a:rPr>
              <a:t>Traditional Classifiers</a:t>
            </a:r>
            <a:endParaRPr lang="en-US" sz="1100"/>
          </a:p>
        </p:txBody>
      </p:sp>
      <p:sp>
        <p:nvSpPr>
          <p:cNvPr name="AutoShape 7" id="7"/>
          <p:cNvSpPr/>
          <p:nvPr/>
        </p:nvSpPr>
        <p:spPr>
          <a:xfrm rot="0" flipH="false" flipV="false">
            <a:off x="952500" y="2413000"/>
            <a:ext cx="311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Outputs only a cold, binary probability score (e.g., 97% real). It lacks context and fails to answer the user’s most critical question: “Why is this a risk?”</a:t>
            </a:r>
            <a:endParaRPr lang="en-US" sz="1100"/>
          </a:p>
        </p:txBody>
      </p:sp>
      <p:sp>
        <p:nvSpPr>
          <p:cNvPr name="AutoShape 8" id="8"/>
          <p:cNvSpPr/>
          <p:nvPr/>
        </p:nvSpPr>
        <p:spPr>
          <a:xfrm rot="0" flipH="false" flipV="false">
            <a:off x="952500" y="3492500"/>
            <a:ext cx="3111500" cy="825500"/>
          </a:xfrm>
          <a:prstGeom prst="roundRect">
            <a:avLst>
              <a:gd name="adj" fmla="val 0"/>
            </a:avLst>
          </a:prstGeom>
          <a:solidFill>
            <a:srgbClr val="EF4444">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41400" y="3556000"/>
            <a:ext cx="292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87171"/>
                </a:solidFill>
                <a:latin typeface="Noto Sans SC"/>
                <a:ea typeface="Noto Sans SC"/>
                <a:cs typeface="Noto Sans SC"/>
                <a:sym typeface="Noto Sans SC"/>
              </a:rPr>
              <a:t>Limitations:</a:t>
            </a:r>
            <a:r>
              <a:rPr lang="en-US" b="false" i="false" strike="noStrike" u="none" sz="1200">
                <a:solidFill>
                  <a:srgbClr val="D1D5DB"/>
                </a:solidFill>
                <a:latin typeface="Noto Sans SC"/>
                <a:ea typeface="Noto Sans SC"/>
                <a:cs typeface="Noto Sans SC"/>
                <a:sym typeface="Noto Sans SC"/>
              </a:rPr>
              <a:t>No actionable guidance. Users receive a score but no steps to protect themselves.</a:t>
            </a:r>
            <a:endParaRPr lang="en-US" sz="1100"/>
          </a:p>
        </p:txBody>
      </p:sp>
      <p:sp>
        <p:nvSpPr>
          <p:cNvPr name="AutoShape 10" id="10"/>
          <p:cNvSpPr/>
          <p:nvPr/>
        </p:nvSpPr>
        <p:spPr>
          <a:xfrm rot="0" flipH="false" flipV="false">
            <a:off x="4445000" y="1651000"/>
            <a:ext cx="3492500" cy="2857500"/>
          </a:xfrm>
          <a:prstGeom prst="roundRect">
            <a:avLst>
              <a:gd name="adj" fmla="val 0"/>
            </a:avLst>
          </a:prstGeom>
          <a:solidFill>
            <a:srgbClr val="1C2024">
              <a:alpha val="85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651000"/>
            <a:ext cx="3492500" cy="381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35500" y="18415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5E7EB"/>
                </a:solidFill>
                <a:latin typeface="Noto Sans SC"/>
                <a:ea typeface="Noto Sans SC"/>
                <a:cs typeface="Noto Sans SC"/>
                <a:sym typeface="Noto Sans SC"/>
              </a:rPr>
              <a:t>Gemma4 Input Engine</a:t>
            </a:r>
            <a:endParaRPr lang="en-US" sz="1100"/>
          </a:p>
        </p:txBody>
      </p:sp>
      <p:sp>
        <p:nvSpPr>
          <p:cNvPr name="AutoShape 13" id="13"/>
          <p:cNvSpPr/>
          <p:nvPr/>
        </p:nvSpPr>
        <p:spPr>
          <a:xfrm rot="0" flipH="false" flipV="false">
            <a:off x="4635500" y="2413000"/>
            <a:ext cx="311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A sophisticated pipeline that fuses raw call data with analytical signals, providing the LLM with the full context needed for accurate reasoning.</a:t>
            </a:r>
            <a:endParaRPr lang="en-US" sz="1100"/>
          </a:p>
        </p:txBody>
      </p:sp>
      <p:sp>
        <p:nvSpPr>
          <p:cNvPr name="AutoShape 14" id="14"/>
          <p:cNvSpPr/>
          <p:nvPr/>
        </p:nvSpPr>
        <p:spPr>
          <a:xfrm rot="0" flipH="false" flipV="false">
            <a:off x="4635500" y="3492500"/>
            <a:ext cx="3111500" cy="8255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724400" y="3556000"/>
            <a:ext cx="292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ADE80"/>
                </a:solidFill>
                <a:latin typeface="Noto Sans SC"/>
                <a:ea typeface="Noto Sans SC"/>
                <a:cs typeface="Noto Sans SC"/>
                <a:sym typeface="Noto Sans SC"/>
              </a:rPr>
              <a:t>Data Fusion:</a:t>
            </a:r>
            <a:r>
              <a:rPr lang="en-US" b="false" i="false" strike="noStrike" u="none" sz="1200">
                <a:solidFill>
                  <a:srgbClr val="D1D5DB"/>
                </a:solidFill>
                <a:latin typeface="Noto Sans SC"/>
                <a:ea typeface="Noto Sans SC"/>
                <a:cs typeface="Noto Sans SC"/>
                <a:sym typeface="Noto Sans SC"/>
              </a:rPr>
              <a:t>Raw transcript + Spoof probability + Contextual red flags (urgency, payment requests).</a:t>
            </a:r>
            <a:endParaRPr lang="en-US" sz="1100"/>
          </a:p>
        </p:txBody>
      </p:sp>
      <p:sp>
        <p:nvSpPr>
          <p:cNvPr name="AutoShape 16" id="16"/>
          <p:cNvSpPr/>
          <p:nvPr/>
        </p:nvSpPr>
        <p:spPr>
          <a:xfrm rot="0" flipH="false" flipV="false">
            <a:off x="8128000" y="1651000"/>
            <a:ext cx="3492500" cy="2857500"/>
          </a:xfrm>
          <a:prstGeom prst="roundRect">
            <a:avLst>
              <a:gd name="adj" fmla="val 0"/>
            </a:avLst>
          </a:prstGeom>
          <a:solidFill>
            <a:srgbClr val="22C55E">
              <a:alpha val="14000"/>
            </a:srgbClr>
          </a:solidFill>
          <a:ln w="12700" cmpd="sng" cap="flat">
            <a:solidFill>
              <a:srgbClr val="22C55E">
                <a:alpha val="8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318500" y="18415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AI Safety Assistant</a:t>
            </a:r>
            <a:endParaRPr lang="en-US" sz="1100"/>
          </a:p>
        </p:txBody>
      </p:sp>
      <p:sp>
        <p:nvSpPr>
          <p:cNvPr name="AutoShape 19" id="19"/>
          <p:cNvSpPr/>
          <p:nvPr/>
        </p:nvSpPr>
        <p:spPr>
          <a:xfrm rot="0" flipH="false" flipV="false">
            <a:off x="8318500" y="2413000"/>
            <a:ext cx="311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D1D5DB"/>
                </a:solidFill>
                <a:latin typeface="Noto Sans SC"/>
                <a:ea typeface="Noto Sans SC"/>
                <a:cs typeface="Noto Sans SC"/>
                <a:sym typeface="Noto Sans SC"/>
              </a:rPr>
              <a:t>Transforms raw data into a human-centric advisory. The model now acts as a proactive guardian, not just a passive detector.</a:t>
            </a:r>
            <a:endParaRPr lang="en-US" sz="1100"/>
          </a:p>
        </p:txBody>
      </p:sp>
      <p:sp>
        <p:nvSpPr>
          <p:cNvPr name="AutoShape 20" id="20"/>
          <p:cNvSpPr/>
          <p:nvPr/>
        </p:nvSpPr>
        <p:spPr>
          <a:xfrm rot="0" flipH="false" flipV="false">
            <a:off x="8318500" y="3492500"/>
            <a:ext cx="3111500" cy="8255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407400" y="3556000"/>
            <a:ext cx="292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ACC15"/>
                </a:solidFill>
                <a:latin typeface="Noto Sans SC"/>
                <a:ea typeface="Noto Sans SC"/>
                <a:cs typeface="Noto Sans SC"/>
                <a:sym typeface="Noto Sans SC"/>
              </a:rPr>
              <a:t>Actionable Insight:</a:t>
            </a:r>
            <a:r>
              <a:rPr lang="en-US" b="false" i="false" strike="noStrike" u="none" sz="1200">
                <a:solidFill>
                  <a:srgbClr val="F3F4F6"/>
                </a:solidFill>
                <a:latin typeface="Noto Sans SC"/>
                <a:ea typeface="Noto Sans SC"/>
                <a:cs typeface="Noto Sans SC"/>
                <a:sym typeface="Noto Sans SC"/>
              </a:rPr>
              <a:t>“Verify identity via a trusted channel. This caller exhibits scam indicators.”</a:t>
            </a:r>
            <a:endParaRPr lang="en-US" sz="1100"/>
          </a:p>
        </p:txBody>
      </p:sp>
      <p:sp>
        <p:nvSpPr>
          <p:cNvPr name="AutoShape 22" id="22"/>
          <p:cNvSpPr/>
          <p:nvPr/>
        </p:nvSpPr>
        <p:spPr>
          <a:xfrm rot="0" flipH="false" flipV="false">
            <a:off x="762000" y="4699000"/>
            <a:ext cx="10858500" cy="1587500"/>
          </a:xfrm>
          <a:prstGeom prst="roundRect">
            <a:avLst>
              <a:gd name="adj" fmla="val 0"/>
            </a:avLst>
          </a:prstGeom>
          <a:solidFill>
            <a:srgbClr val="111827">
              <a:alpha val="88000"/>
            </a:srgbClr>
          </a:solidFill>
          <a:ln w="12700" cmpd="sng" cap="flat">
            <a:solidFill>
              <a:srgbClr val="22C55E">
                <a:alpha val="5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4699000"/>
            <a:ext cx="635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1016000" y="4826000"/>
            <a:ext cx="1028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THE PARADIGM SHIFT: FROM “CLASSIFIER” TO “ASSISTANT”</a:t>
            </a:r>
            <a:endParaRPr lang="en-US" sz="1100"/>
          </a:p>
        </p:txBody>
      </p:sp>
      <p:sp>
        <p:nvSpPr>
          <p:cNvPr name="AutoShape 25" id="25"/>
          <p:cNvSpPr/>
          <p:nvPr/>
        </p:nvSpPr>
        <p:spPr>
          <a:xfrm rot="0" flipH="false" flipV="false">
            <a:off x="1016000" y="5334000"/>
            <a:ext cx="1028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5E7EB"/>
                </a:solidFill>
                <a:latin typeface="Noto Sans SC"/>
                <a:ea typeface="Noto Sans SC"/>
                <a:cs typeface="Noto Sans SC"/>
                <a:sym typeface="Noto Sans SC"/>
              </a:rPr>
              <a:t>By integrating Gemma4, we’ve transcended the limitations of traditional machine learning models. The system no longer just reports a risk score—it explains the risk in natural language and provides clear, real-time steps for the user to take. This evolution marks the transition from a technical tool into a proactive AI Safety Assistant that empowers users to make informed decisions and avoid financial harm.</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Elderly-Friendly Design: Accessibility is Key</a:t>
            </a:r>
            <a:endParaRPr lang="en-US" sz="1100"/>
          </a:p>
        </p:txBody>
      </p:sp>
      <p:sp>
        <p:nvSpPr>
          <p:cNvPr name="AutoShape 4" id="4"/>
          <p:cNvSpPr/>
          <p:nvPr/>
        </p:nvSpPr>
        <p:spPr>
          <a:xfrm rot="0" flipH="false" flipV="false">
            <a:off x="762000" y="1651000"/>
            <a:ext cx="10668000" cy="1397000"/>
          </a:xfrm>
          <a:prstGeom prst="roundRect">
            <a:avLst>
              <a:gd name="adj" fmla="val 0"/>
            </a:avLst>
          </a:prstGeom>
          <a:solidFill>
            <a:srgbClr val="171C26">
              <a:alpha val="90000"/>
            </a:srgbClr>
          </a:solidFill>
          <a:ln w="12700" cmpd="sng" cap="flat">
            <a:solidFill>
              <a:srgbClr val="22C55E">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1016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Core Design Philosophy</a:t>
            </a:r>
            <a:endParaRPr lang="en-US" sz="1100"/>
          </a:p>
        </p:txBody>
      </p:sp>
      <p:sp>
        <p:nvSpPr>
          <p:cNvPr name="AutoShape 6" id="6"/>
          <p:cNvSpPr/>
          <p:nvPr/>
        </p:nvSpPr>
        <p:spPr>
          <a:xfrm rot="0" flipH="false" flipV="false">
            <a:off x="1016000" y="2222500"/>
            <a:ext cx="10160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solidFill>
                <a:latin typeface="Noto Sans SC"/>
                <a:ea typeface="Noto Sans SC"/>
                <a:cs typeface="Noto Sans SC"/>
                <a:sym typeface="Noto Sans SC"/>
              </a:rPr>
              <a:t>The goal is not only to ensure accurate detection of potential risks, but more importantly, to empower elderly users by clearly explaining</a:t>
            </a:r>
            <a:r>
              <a:rPr lang="en-US" b="true" i="false" strike="noStrike" u="none" sz="1400">
                <a:solidFill>
                  <a:srgbClr val="22C55E"/>
                </a:solidFill>
                <a:latin typeface="Noto Sans SC"/>
                <a:ea typeface="Noto Sans SC"/>
                <a:cs typeface="Noto Sans SC"/>
                <a:sym typeface="Noto Sans SC"/>
              </a:rPr>
              <a:t>WHY</a:t>
            </a:r>
            <a:r>
              <a:rPr lang="en-US" b="false" i="false" strike="noStrike" u="none" sz="1400">
                <a:solidFill>
                  <a:srgbClr val="E5E7EB"/>
                </a:solidFill>
                <a:latin typeface="Noto Sans SC"/>
                <a:ea typeface="Noto Sans SC"/>
                <a:cs typeface="Noto Sans SC"/>
                <a:sym typeface="Noto Sans SC"/>
              </a:rPr>
              <a:t>a voice or interaction might be dangerous. We aim to build trust through transparency, making technology a supportive tool rather than a confusing barrier.</a:t>
            </a:r>
            <a:endParaRPr lang="en-US" sz="1100"/>
          </a:p>
        </p:txBody>
      </p:sp>
      <p:sp>
        <p:nvSpPr>
          <p:cNvPr name="AutoShape 7" id="7"/>
          <p:cNvSpPr/>
          <p:nvPr/>
        </p:nvSpPr>
        <p:spPr>
          <a:xfrm rot="0" flipH="false" flipV="false">
            <a:off x="762000" y="3302000"/>
            <a:ext cx="2540000" cy="2349500"/>
          </a:xfrm>
          <a:prstGeom prst="roundRect">
            <a:avLst>
              <a:gd name="adj" fmla="val 0"/>
            </a:avLst>
          </a:prstGeom>
          <a:solidFill>
            <a:srgbClr val="1E293B">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302000"/>
            <a:ext cx="2540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276600"/>
            <a:ext cx="304800" cy="304800"/>
          </a:xfrm>
          <a:prstGeom prst="rect">
            <a:avLst/>
          </a:prstGeom>
        </p:spPr>
      </p:pic>
      <p:sp>
        <p:nvSpPr>
          <p:cNvPr name="AutoShape 10" id="10"/>
          <p:cNvSpPr/>
          <p:nvPr/>
        </p:nvSpPr>
        <p:spPr>
          <a:xfrm rot="0" flipH="false" flipV="false">
            <a:off x="1460500" y="32893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Large Fonts</a:t>
            </a:r>
            <a:endParaRPr lang="en-US" sz="1100"/>
          </a:p>
        </p:txBody>
      </p:sp>
      <p:sp>
        <p:nvSpPr>
          <p:cNvPr name="AutoShape 11" id="11"/>
          <p:cNvSpPr/>
          <p:nvPr/>
        </p:nvSpPr>
        <p:spPr>
          <a:xfrm rot="0" flipH="false" flipV="false">
            <a:off x="952500" y="4064000"/>
            <a:ext cx="2159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4C4C4"/>
                </a:solidFill>
                <a:latin typeface="Noto Sans SC"/>
                <a:ea typeface="Noto Sans SC"/>
                <a:cs typeface="Noto Sans SC"/>
                <a:sym typeface="Noto Sans SC"/>
              </a:rPr>
              <a:t>High-contrast, oversized typography eliminates visual strain. Text elements are scaled for effortless readability, catering to users with age-related vision changes without sacrificing information density.</a:t>
            </a:r>
            <a:endParaRPr lang="en-US" sz="1100"/>
          </a:p>
        </p:txBody>
      </p:sp>
      <p:sp>
        <p:nvSpPr>
          <p:cNvPr name="AutoShape 12" id="12"/>
          <p:cNvSpPr/>
          <p:nvPr/>
        </p:nvSpPr>
        <p:spPr>
          <a:xfrm rot="0" flipH="false" flipV="false">
            <a:off x="3429000" y="3302000"/>
            <a:ext cx="2540000" cy="2349500"/>
          </a:xfrm>
          <a:prstGeom prst="roundRect">
            <a:avLst>
              <a:gd name="adj" fmla="val 0"/>
            </a:avLst>
          </a:prstGeom>
          <a:solidFill>
            <a:srgbClr val="1E293B">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429000" y="3302000"/>
            <a:ext cx="2540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19500" y="3302000"/>
            <a:ext cx="304800" cy="304800"/>
          </a:xfrm>
          <a:prstGeom prst="rect">
            <a:avLst/>
          </a:prstGeom>
        </p:spPr>
      </p:pic>
      <p:sp>
        <p:nvSpPr>
          <p:cNvPr name="AutoShape 15" id="15"/>
          <p:cNvSpPr/>
          <p:nvPr/>
        </p:nvSpPr>
        <p:spPr>
          <a:xfrm rot="0" flipH="false" flipV="false">
            <a:off x="4064000" y="3149600"/>
            <a:ext cx="1778000" cy="6731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Simple Controls</a:t>
            </a:r>
            <a:endParaRPr lang="en-US" sz="1100"/>
          </a:p>
        </p:txBody>
      </p:sp>
      <p:sp>
        <p:nvSpPr>
          <p:cNvPr name="AutoShape 16" id="16"/>
          <p:cNvSpPr/>
          <p:nvPr/>
        </p:nvSpPr>
        <p:spPr>
          <a:xfrm rot="0" flipH="false" flipV="false">
            <a:off x="3619500" y="4064000"/>
            <a:ext cx="2159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4C4C4"/>
                </a:solidFill>
                <a:latin typeface="Noto Sans SC"/>
                <a:ea typeface="Noto Sans SC"/>
                <a:cs typeface="Noto Sans SC"/>
                <a:sym typeface="Noto Sans SC"/>
              </a:rPr>
              <a:t>Redesigned UI components with increased touch targets and reduced interaction steps. Every button and action is purposeful, minimizing the chance of errors and making navigation feel intuitive and stress-free.</a:t>
            </a:r>
            <a:endParaRPr lang="en-US" sz="1100"/>
          </a:p>
        </p:txBody>
      </p:sp>
      <p:sp>
        <p:nvSpPr>
          <p:cNvPr name="AutoShape 17" id="17"/>
          <p:cNvSpPr/>
          <p:nvPr/>
        </p:nvSpPr>
        <p:spPr>
          <a:xfrm rot="0" flipH="false" flipV="false">
            <a:off x="6096000" y="3302000"/>
            <a:ext cx="2540000" cy="2349500"/>
          </a:xfrm>
          <a:prstGeom prst="roundRect">
            <a:avLst>
              <a:gd name="adj" fmla="val 0"/>
            </a:avLst>
          </a:prstGeom>
          <a:solidFill>
            <a:srgbClr val="1E293B">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096000" y="3302000"/>
            <a:ext cx="2540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286500" y="3340100"/>
            <a:ext cx="304800" cy="304800"/>
          </a:xfrm>
          <a:prstGeom prst="rect">
            <a:avLst/>
          </a:prstGeom>
        </p:spPr>
      </p:pic>
      <p:sp>
        <p:nvSpPr>
          <p:cNvPr name="AutoShape 20" id="20"/>
          <p:cNvSpPr/>
          <p:nvPr/>
        </p:nvSpPr>
        <p:spPr>
          <a:xfrm rot="0" flipH="false" flipV="false">
            <a:off x="6667500" y="32512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Bilingual UI</a:t>
            </a:r>
            <a:endParaRPr lang="en-US" sz="1100"/>
          </a:p>
        </p:txBody>
      </p:sp>
      <p:sp>
        <p:nvSpPr>
          <p:cNvPr name="AutoShape 21" id="21"/>
          <p:cNvSpPr/>
          <p:nvPr/>
        </p:nvSpPr>
        <p:spPr>
          <a:xfrm rot="0" flipH="false" flipV="false">
            <a:off x="6286500" y="4064000"/>
            <a:ext cx="2159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4C4C4"/>
                </a:solidFill>
                <a:latin typeface="Noto Sans SC"/>
                <a:ea typeface="Noto Sans SC"/>
                <a:cs typeface="Noto Sans SC"/>
                <a:sym typeface="Noto Sans SC"/>
              </a:rPr>
              <a:t>Seamless switching between Chinese and English. This dual-language support bridges communication gaps, ensuring that non-native speakers or users more comfortable with their mother tongue can fully engage with the system.</a:t>
            </a:r>
            <a:endParaRPr lang="en-US" sz="1100"/>
          </a:p>
        </p:txBody>
      </p:sp>
      <p:sp>
        <p:nvSpPr>
          <p:cNvPr name="AutoShape 22" id="22"/>
          <p:cNvSpPr/>
          <p:nvPr/>
        </p:nvSpPr>
        <p:spPr>
          <a:xfrm rot="0" flipH="false" flipV="false">
            <a:off x="8763000" y="3302000"/>
            <a:ext cx="2540000" cy="2349500"/>
          </a:xfrm>
          <a:prstGeom prst="roundRect">
            <a:avLst>
              <a:gd name="adj" fmla="val 0"/>
            </a:avLst>
          </a:prstGeom>
          <a:solidFill>
            <a:srgbClr val="1E293B">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763000" y="3302000"/>
            <a:ext cx="2540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890000" y="3340100"/>
            <a:ext cx="304800" cy="304800"/>
          </a:xfrm>
          <a:prstGeom prst="rect">
            <a:avLst/>
          </a:prstGeom>
        </p:spPr>
      </p:pic>
      <p:sp>
        <p:nvSpPr>
          <p:cNvPr name="AutoShape 25" id="25"/>
          <p:cNvSpPr/>
          <p:nvPr/>
        </p:nvSpPr>
        <p:spPr>
          <a:xfrm rot="0" flipH="false" flipV="false">
            <a:off x="9398000" y="33147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Clear AI Logic</a:t>
            </a:r>
            <a:endParaRPr lang="en-US" sz="1100"/>
          </a:p>
        </p:txBody>
      </p:sp>
      <p:sp>
        <p:nvSpPr>
          <p:cNvPr name="AutoShape 26" id="26"/>
          <p:cNvSpPr/>
          <p:nvPr/>
        </p:nvSpPr>
        <p:spPr>
          <a:xfrm rot="0" flipH="false" flipV="false">
            <a:off x="8953500" y="4064000"/>
            <a:ext cx="2159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4C4C4"/>
                </a:solidFill>
                <a:latin typeface="Noto Sans SC"/>
                <a:ea typeface="Noto Sans SC"/>
                <a:cs typeface="Noto Sans SC"/>
                <a:sym typeface="Noto Sans SC"/>
              </a:rPr>
              <a:t>AI outputs translated into plain, conversational language. Complex technical judgments are broken down into simple "why" explanations, empowering users to understand and trust the system's recommendations.</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4">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Features Overview</a:t>
            </a:r>
            <a:endParaRPr lang="en-US" sz="1100"/>
          </a:p>
        </p:txBody>
      </p:sp>
      <p:sp>
        <p:nvSpPr>
          <p:cNvPr name="AutoShape 4" id="4"/>
          <p:cNvSpPr/>
          <p:nvPr/>
        </p:nvSpPr>
        <p:spPr>
          <a:xfrm rot="0" flipH="false" flipV="false">
            <a:off x="762000" y="1651000"/>
            <a:ext cx="3492500" cy="1587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803400"/>
            <a:ext cx="355600" cy="355600"/>
          </a:xfrm>
          <a:prstGeom prst="rect">
            <a:avLst/>
          </a:prstGeom>
        </p:spPr>
      </p:pic>
      <p:sp>
        <p:nvSpPr>
          <p:cNvPr name="AutoShape 7" id="7"/>
          <p:cNvSpPr/>
          <p:nvPr/>
        </p:nvSpPr>
        <p:spPr>
          <a:xfrm rot="0" flipH="false" flipV="false">
            <a:off x="1460500" y="17780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Voice Spoof Detection</a:t>
            </a:r>
            <a:endParaRPr lang="en-US" sz="1100"/>
          </a:p>
        </p:txBody>
      </p:sp>
      <p:sp>
        <p:nvSpPr>
          <p:cNvPr name="AutoShape 8" id="8"/>
          <p:cNvSpPr/>
          <p:nvPr/>
        </p:nvSpPr>
        <p:spPr>
          <a:xfrm rot="0" flipH="false" flipV="false">
            <a:off x="952500" y="2286000"/>
            <a:ext cx="317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精准识别合成语音与录音攻击，构建第一道声纹安全防线，有效拦截伪造身份的恶意语音接入。</a:t>
            </a:r>
            <a:endParaRPr lang="en-US" sz="1100"/>
          </a:p>
        </p:txBody>
      </p:sp>
      <p:sp>
        <p:nvSpPr>
          <p:cNvPr name="AutoShape 9" id="9"/>
          <p:cNvSpPr/>
          <p:nvPr/>
        </p:nvSpPr>
        <p:spPr>
          <a:xfrm rot="0" flipH="false" flipV="false">
            <a:off x="4381500" y="1651000"/>
            <a:ext cx="3492500" cy="1587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381500" y="16510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1803400"/>
            <a:ext cx="355600" cy="355600"/>
          </a:xfrm>
          <a:prstGeom prst="rect">
            <a:avLst/>
          </a:prstGeom>
        </p:spPr>
      </p:pic>
      <p:sp>
        <p:nvSpPr>
          <p:cNvPr name="AutoShape 12" id="12"/>
          <p:cNvSpPr/>
          <p:nvPr/>
        </p:nvSpPr>
        <p:spPr>
          <a:xfrm rot="0" flipH="false" flipV="false">
            <a:off x="5080000" y="17780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AI Scam Reasoning</a:t>
            </a:r>
            <a:endParaRPr lang="en-US" sz="1100"/>
          </a:p>
        </p:txBody>
      </p:sp>
      <p:sp>
        <p:nvSpPr>
          <p:cNvPr name="AutoShape 13" id="13"/>
          <p:cNvSpPr/>
          <p:nvPr/>
        </p:nvSpPr>
        <p:spPr>
          <a:xfrm rot="0" flipH="false" flipV="false">
            <a:off x="4572000" y="2286000"/>
            <a:ext cx="317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基于大模型的意图推理引擎，实时分析对话逻辑与话术特征，快速识别潜在的诈骗诱导与陷阱。</a:t>
            </a:r>
            <a:endParaRPr lang="en-US" sz="1100"/>
          </a:p>
        </p:txBody>
      </p:sp>
      <p:sp>
        <p:nvSpPr>
          <p:cNvPr name="AutoShape 14" id="14"/>
          <p:cNvSpPr/>
          <p:nvPr/>
        </p:nvSpPr>
        <p:spPr>
          <a:xfrm rot="0" flipH="false" flipV="false">
            <a:off x="8001000" y="1651000"/>
            <a:ext cx="3492500" cy="1587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001000" y="16510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1803400"/>
            <a:ext cx="355600" cy="355600"/>
          </a:xfrm>
          <a:prstGeom prst="rect">
            <a:avLst/>
          </a:prstGeom>
        </p:spPr>
      </p:pic>
      <p:sp>
        <p:nvSpPr>
          <p:cNvPr name="AutoShape 17" id="17"/>
          <p:cNvSpPr/>
          <p:nvPr/>
        </p:nvSpPr>
        <p:spPr>
          <a:xfrm rot="0" flipH="false" flipV="false">
            <a:off x="8699500" y="17780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Whisper Transcription</a:t>
            </a:r>
            <a:endParaRPr lang="en-US" sz="1100"/>
          </a:p>
        </p:txBody>
      </p:sp>
      <p:sp>
        <p:nvSpPr>
          <p:cNvPr name="AutoShape 18" id="18"/>
          <p:cNvSpPr/>
          <p:nvPr/>
        </p:nvSpPr>
        <p:spPr>
          <a:xfrm rot="0" flipH="false" flipV="false">
            <a:off x="8191500" y="2286000"/>
            <a:ext cx="317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集成优化版 Whisper 模型，实现毫秒级语音实时转写，将音频流转化为可解析的文本数据，辅助决策。</a:t>
            </a:r>
            <a:endParaRPr lang="en-US" sz="1100"/>
          </a:p>
        </p:txBody>
      </p:sp>
      <p:sp>
        <p:nvSpPr>
          <p:cNvPr name="AutoShape 19" id="19"/>
          <p:cNvSpPr/>
          <p:nvPr/>
        </p:nvSpPr>
        <p:spPr>
          <a:xfrm rot="0" flipH="false" flipV="false">
            <a:off x="762000" y="3365500"/>
            <a:ext cx="3492500" cy="1587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33655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3517900"/>
            <a:ext cx="355600" cy="355600"/>
          </a:xfrm>
          <a:prstGeom prst="rect">
            <a:avLst/>
          </a:prstGeom>
        </p:spPr>
      </p:pic>
      <p:sp>
        <p:nvSpPr>
          <p:cNvPr name="AutoShape 22" id="22"/>
          <p:cNvSpPr/>
          <p:nvPr/>
        </p:nvSpPr>
        <p:spPr>
          <a:xfrm rot="0" flipH="false" flipV="false">
            <a:off x="1460500" y="34925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Gemma4 Explanation System</a:t>
            </a:r>
            <a:endParaRPr lang="en-US" sz="1100"/>
          </a:p>
        </p:txBody>
      </p:sp>
      <p:sp>
        <p:nvSpPr>
          <p:cNvPr name="AutoShape 23" id="23"/>
          <p:cNvSpPr/>
          <p:nvPr/>
        </p:nvSpPr>
        <p:spPr>
          <a:xfrm rot="0" flipH="false" flipV="false">
            <a:off x="952500" y="4000500"/>
            <a:ext cx="317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提供可解释的 AI 决策依据，不仅输出风险预警，更能回溯分析逻辑，让用户清晰了解风险产生的根源。</a:t>
            </a:r>
            <a:endParaRPr lang="en-US" sz="1100"/>
          </a:p>
        </p:txBody>
      </p:sp>
      <p:sp>
        <p:nvSpPr>
          <p:cNvPr name="AutoShape 24" id="24"/>
          <p:cNvSpPr/>
          <p:nvPr/>
        </p:nvSpPr>
        <p:spPr>
          <a:xfrm rot="0" flipH="false" flipV="false">
            <a:off x="4381500" y="3365500"/>
            <a:ext cx="3492500" cy="1587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381500" y="33655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572000" y="3517900"/>
            <a:ext cx="355600" cy="355600"/>
          </a:xfrm>
          <a:prstGeom prst="rect">
            <a:avLst/>
          </a:prstGeom>
        </p:spPr>
      </p:pic>
      <p:sp>
        <p:nvSpPr>
          <p:cNvPr name="AutoShape 27" id="27"/>
          <p:cNvSpPr/>
          <p:nvPr/>
        </p:nvSpPr>
        <p:spPr>
          <a:xfrm rot="0" flipH="false" flipV="false">
            <a:off x="5080000" y="34925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Elderly-Friendly UI</a:t>
            </a:r>
            <a:endParaRPr lang="en-US" sz="1100"/>
          </a:p>
        </p:txBody>
      </p:sp>
      <p:sp>
        <p:nvSpPr>
          <p:cNvPr name="AutoShape 28" id="28"/>
          <p:cNvSpPr/>
          <p:nvPr/>
        </p:nvSpPr>
        <p:spPr>
          <a:xfrm rot="0" flipH="false" flipV="false">
            <a:off x="4572000" y="4000500"/>
            <a:ext cx="317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专为老年群体设计的无障碍交互界面，采用大字体、高对比度与简化操作流程，降低数字鸿沟带来的风险。</a:t>
            </a:r>
            <a:endParaRPr lang="en-US" sz="1100"/>
          </a:p>
        </p:txBody>
      </p:sp>
      <p:sp>
        <p:nvSpPr>
          <p:cNvPr name="AutoShape 29" id="29"/>
          <p:cNvSpPr/>
          <p:nvPr/>
        </p:nvSpPr>
        <p:spPr>
          <a:xfrm rot="0" flipH="false" flipV="false">
            <a:off x="8001000" y="3365500"/>
            <a:ext cx="3492500" cy="1587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001000" y="3365500"/>
            <a:ext cx="50800" cy="1587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191500" y="3517900"/>
            <a:ext cx="355600" cy="355600"/>
          </a:xfrm>
          <a:prstGeom prst="rect">
            <a:avLst/>
          </a:prstGeom>
        </p:spPr>
      </p:pic>
      <p:sp>
        <p:nvSpPr>
          <p:cNvPr name="AutoShape 32" id="32"/>
          <p:cNvSpPr/>
          <p:nvPr/>
        </p:nvSpPr>
        <p:spPr>
          <a:xfrm rot="0" flipH="false" flipV="false">
            <a:off x="8699500" y="34925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Chinese / English Support</a:t>
            </a:r>
            <a:endParaRPr lang="en-US" sz="1100"/>
          </a:p>
        </p:txBody>
      </p:sp>
      <p:sp>
        <p:nvSpPr>
          <p:cNvPr name="AutoShape 33" id="33"/>
          <p:cNvSpPr/>
          <p:nvPr/>
        </p:nvSpPr>
        <p:spPr>
          <a:xfrm rot="0" flipH="false" flipV="false">
            <a:off x="8191500" y="4000500"/>
            <a:ext cx="317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原生支持中英文双语实时处理与交互，无论是境内的方言变体还是跨境的语音交流，均能保持高精度识别。</a:t>
            </a:r>
            <a:endParaRPr lang="en-US" sz="1100"/>
          </a:p>
        </p:txBody>
      </p:sp>
      <p:sp>
        <p:nvSpPr>
          <p:cNvPr name="AutoShape 34" id="34"/>
          <p:cNvSpPr/>
          <p:nvPr/>
        </p:nvSpPr>
        <p:spPr>
          <a:xfrm rot="0" flipH="false" flipV="false">
            <a:off x="762000" y="5080000"/>
            <a:ext cx="3492500" cy="1460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762000" y="50800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52500" y="5232400"/>
            <a:ext cx="355600" cy="355600"/>
          </a:xfrm>
          <a:prstGeom prst="rect">
            <a:avLst/>
          </a:prstGeom>
        </p:spPr>
      </p:pic>
      <p:sp>
        <p:nvSpPr>
          <p:cNvPr name="AutoShape 37" id="37"/>
          <p:cNvSpPr/>
          <p:nvPr/>
        </p:nvSpPr>
        <p:spPr>
          <a:xfrm rot="0" flipH="false" flipV="false">
            <a:off x="1460500" y="52070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HuggingFace Deployment</a:t>
            </a:r>
            <a:endParaRPr lang="en-US" sz="1100"/>
          </a:p>
        </p:txBody>
      </p:sp>
      <p:sp>
        <p:nvSpPr>
          <p:cNvPr name="AutoShape 38" id="38"/>
          <p:cNvSpPr/>
          <p:nvPr/>
        </p:nvSpPr>
        <p:spPr>
          <a:xfrm rot="0" flipH="false" flipV="false">
            <a:off x="952500" y="5715000"/>
            <a:ext cx="317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无缝部署于 Hugging Face 生态，支持模型即服务的快速调用与云端集成。</a:t>
            </a:r>
            <a:endParaRPr lang="en-US" sz="1100"/>
          </a:p>
        </p:txBody>
      </p:sp>
      <p:sp>
        <p:nvSpPr>
          <p:cNvPr name="AutoShape 39" id="39"/>
          <p:cNvSpPr/>
          <p:nvPr/>
        </p:nvSpPr>
        <p:spPr>
          <a:xfrm rot="0" flipH="false" flipV="false">
            <a:off x="4381500" y="5080000"/>
            <a:ext cx="3492500" cy="1460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4381500" y="50800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1" id="41"/>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4572000" y="5232400"/>
            <a:ext cx="355600" cy="355600"/>
          </a:xfrm>
          <a:prstGeom prst="rect">
            <a:avLst/>
          </a:prstGeom>
        </p:spPr>
      </p:pic>
      <p:sp>
        <p:nvSpPr>
          <p:cNvPr name="AutoShape 42" id="42"/>
          <p:cNvSpPr/>
          <p:nvPr/>
        </p:nvSpPr>
        <p:spPr>
          <a:xfrm rot="0" flipH="false" flipV="false">
            <a:off x="5080000" y="52070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Real-time Audio Upload</a:t>
            </a:r>
            <a:endParaRPr lang="en-US" sz="1100"/>
          </a:p>
        </p:txBody>
      </p:sp>
      <p:sp>
        <p:nvSpPr>
          <p:cNvPr name="AutoShape 43" id="43"/>
          <p:cNvSpPr/>
          <p:nvPr/>
        </p:nvSpPr>
        <p:spPr>
          <a:xfrm rot="0" flipH="false" flipV="false">
            <a:off x="4572000" y="5715000"/>
            <a:ext cx="317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低延迟流式音频传输技术，确保录音与分析的同步性，不错过任何关键语音片段。</a:t>
            </a:r>
            <a:endParaRPr lang="en-US" sz="1100"/>
          </a:p>
        </p:txBody>
      </p:sp>
      <p:sp>
        <p:nvSpPr>
          <p:cNvPr name="AutoShape 44" id="44"/>
          <p:cNvSpPr/>
          <p:nvPr/>
        </p:nvSpPr>
        <p:spPr>
          <a:xfrm rot="0" flipH="false" flipV="false">
            <a:off x="8001000" y="5080000"/>
            <a:ext cx="3492500" cy="1460500"/>
          </a:xfrm>
          <a:prstGeom prst="roundRect">
            <a:avLst>
              <a:gd name="adj" fmla="val 0"/>
            </a:avLst>
          </a:prstGeom>
          <a:solidFill>
            <a:srgbClr val="19231E">
              <a:alpha val="8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8001000" y="50800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6" id="46"/>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8191500" y="5232400"/>
            <a:ext cx="355600" cy="355600"/>
          </a:xfrm>
          <a:prstGeom prst="rect">
            <a:avLst/>
          </a:prstGeom>
        </p:spPr>
      </p:pic>
      <p:sp>
        <p:nvSpPr>
          <p:cNvPr name="AutoShape 47" id="47"/>
          <p:cNvSpPr/>
          <p:nvPr/>
        </p:nvSpPr>
        <p:spPr>
          <a:xfrm rot="0" flipH="false" flipV="false">
            <a:off x="8699500" y="52070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CPU-Compatible Deployment</a:t>
            </a:r>
            <a:endParaRPr lang="en-US" sz="1100"/>
          </a:p>
        </p:txBody>
      </p:sp>
      <p:sp>
        <p:nvSpPr>
          <p:cNvPr name="AutoShape 48" id="48"/>
          <p:cNvSpPr/>
          <p:nvPr/>
        </p:nvSpPr>
        <p:spPr>
          <a:xfrm rot="0" flipH="false" flipV="false">
            <a:off x="8191500" y="5715000"/>
            <a:ext cx="317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极致模型轻量化优化，无需高性能 GPU，普通 CPU 即可流畅运行，降低落地门槛。</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Online Demo: Try it Yourself!</a:t>
            </a:r>
            <a:endParaRPr lang="en-US" sz="1100"/>
          </a:p>
        </p:txBody>
      </p:sp>
      <p:sp>
        <p:nvSpPr>
          <p:cNvPr name="AutoShape 4" id="4"/>
          <p:cNvSpPr/>
          <p:nvPr/>
        </p:nvSpPr>
        <p:spPr>
          <a:xfrm rot="0" flipH="false" flipV="false">
            <a:off x="762000" y="1524000"/>
            <a:ext cx="6096000" cy="1143000"/>
          </a:xfrm>
          <a:prstGeom prst="roundRect">
            <a:avLst>
              <a:gd name="adj" fmla="val 0"/>
            </a:avLst>
          </a:prstGeom>
          <a:solidFill>
            <a:srgbClr val="0F172A">
              <a:alpha val="88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651000"/>
            <a:ext cx="304800" cy="304800"/>
          </a:xfrm>
          <a:prstGeom prst="rect">
            <a:avLst/>
          </a:prstGeom>
        </p:spPr>
      </p:pic>
      <p:sp>
        <p:nvSpPr>
          <p:cNvPr name="AutoShape 6" id="6"/>
          <p:cNvSpPr/>
          <p:nvPr/>
        </p:nvSpPr>
        <p:spPr>
          <a:xfrm rot="0" flipH="false" flipV="false">
            <a:off x="1397000" y="1651000"/>
            <a:ext cx="520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0F0F0"/>
                </a:solidFill>
                <a:latin typeface="Noto Sans SC"/>
                <a:ea typeface="Noto Sans SC"/>
                <a:cs typeface="Noto Sans SC"/>
                <a:sym typeface="Noto Sans SC"/>
              </a:rPr>
              <a:t>Access the Live Demo Space</a:t>
            </a:r>
            <a:endParaRPr lang="en-US" sz="1100"/>
          </a:p>
        </p:txBody>
      </p:sp>
      <p:sp>
        <p:nvSpPr>
          <p:cNvPr name="AutoShape 7" id="7"/>
          <p:cNvSpPr/>
          <p:nvPr/>
        </p:nvSpPr>
        <p:spPr>
          <a:xfrm rot="0" flipH="false" flipV="false">
            <a:off x="952500" y="2032000"/>
            <a:ext cx="571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2C55E"/>
                </a:solidFill>
                <a:latin typeface="Noto Sans SC"/>
                <a:ea typeface="Noto Sans SC"/>
                <a:cs typeface="Noto Sans SC"/>
                <a:sym typeface="Noto Sans SC"/>
              </a:rPr>
              <a:t>huggingface.co/spaces/Laura-smith/voice-spoof-detector</a:t>
            </a:r>
            <a:endParaRPr lang="en-US" sz="1100"/>
          </a:p>
        </p:txBody>
      </p:sp>
      <p:sp>
        <p:nvSpPr>
          <p:cNvPr name="AutoShape 8" id="8"/>
          <p:cNvSpPr/>
          <p:nvPr/>
        </p:nvSpPr>
        <p:spPr>
          <a:xfrm rot="0" flipH="false" flipV="false">
            <a:off x="762000" y="2921000"/>
            <a:ext cx="1473200" cy="1714500"/>
          </a:xfrm>
          <a:prstGeom prst="roundRect">
            <a:avLst>
              <a:gd name="adj" fmla="val 0"/>
            </a:avLst>
          </a:prstGeom>
          <a:solidFill>
            <a:srgbClr val="141E28">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89000" y="3048000"/>
            <a:ext cx="279400" cy="279400"/>
          </a:xfrm>
          <a:prstGeom prst="rect">
            <a:avLst/>
          </a:prstGeom>
        </p:spPr>
      </p:pic>
      <p:sp>
        <p:nvSpPr>
          <p:cNvPr name="AutoShape 10" id="10"/>
          <p:cNvSpPr/>
          <p:nvPr/>
        </p:nvSpPr>
        <p:spPr>
          <a:xfrm rot="0" flipH="false" flipV="false">
            <a:off x="889000" y="3429000"/>
            <a:ext cx="133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Real-time Detect</a:t>
            </a:r>
            <a:endParaRPr lang="en-US" sz="1100"/>
          </a:p>
        </p:txBody>
      </p:sp>
      <p:sp>
        <p:nvSpPr>
          <p:cNvPr name="AutoShape 11" id="11"/>
          <p:cNvSpPr/>
          <p:nvPr/>
        </p:nvSpPr>
        <p:spPr>
          <a:xfrm rot="0" flipH="false" flipV="false">
            <a:off x="889000" y="3937000"/>
            <a:ext cx="1333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B4B4B4"/>
                </a:solidFill>
                <a:latin typeface="Noto Sans SC"/>
                <a:ea typeface="Noto Sans SC"/>
                <a:cs typeface="Noto Sans SC"/>
                <a:sym typeface="Noto Sans SC"/>
              </a:rPr>
              <a:t>Upload audio and get instant deepfake risk assessment.</a:t>
            </a:r>
            <a:endParaRPr lang="en-US" sz="1100"/>
          </a:p>
        </p:txBody>
      </p:sp>
      <p:sp>
        <p:nvSpPr>
          <p:cNvPr name="AutoShape 12" id="12"/>
          <p:cNvSpPr/>
          <p:nvPr/>
        </p:nvSpPr>
        <p:spPr>
          <a:xfrm rot="0" flipH="false" flipV="false">
            <a:off x="2324100" y="2921000"/>
            <a:ext cx="1473200" cy="1714500"/>
          </a:xfrm>
          <a:prstGeom prst="roundRect">
            <a:avLst>
              <a:gd name="adj" fmla="val 0"/>
            </a:avLst>
          </a:prstGeom>
          <a:solidFill>
            <a:srgbClr val="141E28">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2451100" y="3048000"/>
            <a:ext cx="279400" cy="279400"/>
          </a:xfrm>
          <a:prstGeom prst="rect">
            <a:avLst/>
          </a:prstGeom>
        </p:spPr>
      </p:pic>
      <p:sp>
        <p:nvSpPr>
          <p:cNvPr name="AutoShape 14" id="14"/>
          <p:cNvSpPr/>
          <p:nvPr/>
        </p:nvSpPr>
        <p:spPr>
          <a:xfrm rot="0" flipH="false" flipV="false">
            <a:off x="2451100" y="3429000"/>
            <a:ext cx="133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Auto-Transcript</a:t>
            </a:r>
            <a:endParaRPr lang="en-US" sz="1100"/>
          </a:p>
        </p:txBody>
      </p:sp>
      <p:sp>
        <p:nvSpPr>
          <p:cNvPr name="AutoShape 15" id="15"/>
          <p:cNvSpPr/>
          <p:nvPr/>
        </p:nvSpPr>
        <p:spPr>
          <a:xfrm rot="0" flipH="false" flipV="false">
            <a:off x="2451100" y="3937000"/>
            <a:ext cx="1333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B4B4B4"/>
                </a:solidFill>
                <a:latin typeface="Noto Sans SC"/>
                <a:ea typeface="Noto Sans SC"/>
                <a:cs typeface="Noto Sans SC"/>
                <a:sym typeface="Noto Sans SC"/>
              </a:rPr>
              <a:t>Convert speech to text for easier content verification.</a:t>
            </a:r>
            <a:endParaRPr lang="en-US" sz="1100"/>
          </a:p>
        </p:txBody>
      </p:sp>
      <p:sp>
        <p:nvSpPr>
          <p:cNvPr name="AutoShape 16" id="16"/>
          <p:cNvSpPr/>
          <p:nvPr/>
        </p:nvSpPr>
        <p:spPr>
          <a:xfrm rot="0" flipH="false" flipV="false">
            <a:off x="3886200" y="2921000"/>
            <a:ext cx="1473200" cy="1714500"/>
          </a:xfrm>
          <a:prstGeom prst="roundRect">
            <a:avLst>
              <a:gd name="adj" fmla="val 0"/>
            </a:avLst>
          </a:prstGeom>
          <a:solidFill>
            <a:srgbClr val="141E28">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013200" y="3048000"/>
            <a:ext cx="279400" cy="279400"/>
          </a:xfrm>
          <a:prstGeom prst="rect">
            <a:avLst/>
          </a:prstGeom>
        </p:spPr>
      </p:pic>
      <p:sp>
        <p:nvSpPr>
          <p:cNvPr name="AutoShape 18" id="18"/>
          <p:cNvSpPr/>
          <p:nvPr/>
        </p:nvSpPr>
        <p:spPr>
          <a:xfrm rot="0" flipH="false" flipV="false">
            <a:off x="4013200" y="3429000"/>
            <a:ext cx="133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Gemma4 AI</a:t>
            </a:r>
            <a:endParaRPr lang="en-US" sz="1100"/>
          </a:p>
        </p:txBody>
      </p:sp>
      <p:sp>
        <p:nvSpPr>
          <p:cNvPr name="AutoShape 19" id="19"/>
          <p:cNvSpPr/>
          <p:nvPr/>
        </p:nvSpPr>
        <p:spPr>
          <a:xfrm rot="0" flipH="false" flipV="false">
            <a:off x="4013200" y="3937000"/>
            <a:ext cx="1333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B4B4B4"/>
                </a:solidFill>
                <a:latin typeface="Noto Sans SC"/>
                <a:ea typeface="Noto Sans SC"/>
                <a:cs typeface="Noto Sans SC"/>
                <a:sym typeface="Noto Sans SC"/>
              </a:rPr>
              <a:t>Advanced LLM analysis of audio patterns.</a:t>
            </a:r>
            <a:endParaRPr lang="en-US" sz="1100"/>
          </a:p>
        </p:txBody>
      </p:sp>
      <p:sp>
        <p:nvSpPr>
          <p:cNvPr name="AutoShape 20" id="20"/>
          <p:cNvSpPr/>
          <p:nvPr/>
        </p:nvSpPr>
        <p:spPr>
          <a:xfrm rot="0" flipH="false" flipV="false">
            <a:off x="5448300" y="2921000"/>
            <a:ext cx="1473200" cy="1714500"/>
          </a:xfrm>
          <a:prstGeom prst="roundRect">
            <a:avLst>
              <a:gd name="adj" fmla="val 0"/>
            </a:avLst>
          </a:prstGeom>
          <a:solidFill>
            <a:srgbClr val="141E28">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5575300" y="3048000"/>
            <a:ext cx="279400" cy="279400"/>
          </a:xfrm>
          <a:prstGeom prst="rect">
            <a:avLst/>
          </a:prstGeom>
        </p:spPr>
      </p:pic>
      <p:sp>
        <p:nvSpPr>
          <p:cNvPr name="AutoShape 22" id="22"/>
          <p:cNvSpPr/>
          <p:nvPr/>
        </p:nvSpPr>
        <p:spPr>
          <a:xfrm rot="0" flipH="false" flipV="false">
            <a:off x="5575300" y="3429000"/>
            <a:ext cx="133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Dual-Language</a:t>
            </a:r>
            <a:endParaRPr lang="en-US" sz="1100"/>
          </a:p>
        </p:txBody>
      </p:sp>
      <p:sp>
        <p:nvSpPr>
          <p:cNvPr name="AutoShape 23" id="23"/>
          <p:cNvSpPr/>
          <p:nvPr/>
        </p:nvSpPr>
        <p:spPr>
          <a:xfrm rot="0" flipH="false" flipV="false">
            <a:off x="5575300" y="3937000"/>
            <a:ext cx="1333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B4B4B4"/>
                </a:solidFill>
                <a:latin typeface="Noto Sans SC"/>
                <a:ea typeface="Noto Sans SC"/>
                <a:cs typeface="Noto Sans SC"/>
                <a:sym typeface="Noto Sans SC"/>
              </a:rPr>
              <a:t>Supports Chinese and English interactions.</a:t>
            </a:r>
            <a:endParaRPr lang="en-US" sz="1100"/>
          </a:p>
        </p:txBody>
      </p:sp>
      <p:sp>
        <p:nvSpPr>
          <p:cNvPr name="AutoShape 24" id="24"/>
          <p:cNvSpPr/>
          <p:nvPr/>
        </p:nvSpPr>
        <p:spPr>
          <a:xfrm rot="0" flipH="false" flipV="false">
            <a:off x="762000" y="4826000"/>
            <a:ext cx="6096000" cy="1587500"/>
          </a:xfrm>
          <a:prstGeom prst="roundRect">
            <a:avLst>
              <a:gd name="adj" fmla="val 0"/>
            </a:avLst>
          </a:prstGeom>
          <a:solidFill>
            <a:srgbClr val="0A141E">
              <a:alpha val="95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52500" y="4978400"/>
            <a:ext cx="279400" cy="279400"/>
          </a:xfrm>
          <a:prstGeom prst="rect">
            <a:avLst/>
          </a:prstGeom>
        </p:spPr>
      </p:pic>
      <p:sp>
        <p:nvSpPr>
          <p:cNvPr name="AutoShape 26" id="26"/>
          <p:cNvSpPr/>
          <p:nvPr/>
        </p:nvSpPr>
        <p:spPr>
          <a:xfrm rot="0" flipH="false" flipV="false">
            <a:off x="1397000" y="4978400"/>
            <a:ext cx="520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Optimized for CPU Deployment</a:t>
            </a:r>
            <a:endParaRPr lang="en-US" sz="1100"/>
          </a:p>
        </p:txBody>
      </p:sp>
      <p:sp>
        <p:nvSpPr>
          <p:cNvPr name="AutoShape 27" id="27"/>
          <p:cNvSpPr/>
          <p:nvPr/>
        </p:nvSpPr>
        <p:spPr>
          <a:xfrm rot="0" flipH="false" flipV="false">
            <a:off x="952500" y="5397500"/>
            <a:ext cx="571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C8C8C8"/>
                </a:solidFill>
                <a:latin typeface="Noto Sans SC"/>
                <a:ea typeface="Noto Sans SC"/>
                <a:cs typeface="Noto Sans SC"/>
                <a:sym typeface="Noto Sans SC"/>
              </a:rPr>
              <a:t>To ensure smooth operation on HuggingFace's shared CPU instances, we've implemented Gemma4 lazy loading, enabled lightweight Whisper transcription mode, and applied CPU-safe inference optimizations. This balances high accuracy with fast response times even under resource constraints.</a:t>
            </a:r>
            <a:endParaRPr lang="en-US" sz="1100"/>
          </a:p>
        </p:txBody>
      </p:sp>
      <p:cxnSp>
        <p:nvCxnSpPr>
          <p:cNvPr name="Connector 28" id="28"/>
          <p:cNvCxnSpPr/>
          <p:nvPr/>
        </p:nvCxnSpPr>
        <p:spPr>
          <a:xfrm rot="5391070" flipH="false" flipV="false">
            <a:off x="4667250" y="3962408"/>
            <a:ext cx="4889500" cy="12700"/>
          </a:xfrm>
          <a:prstGeom prst="straightConnector1">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pic>
        <p:nvPicPr>
          <p:cNvPr name="Picture 29" id="29"/>
          <p:cNvPicPr>
            <a:picLocks noChangeAspect="true"/>
          </p:cNvPicPr>
          <p:nvPr/>
        </p:nvPicPr>
        <p:blipFill>
          <a:blip r:embed="rId15"/>
          <a:srcRect l="0" r="0" t="569" b="569"/>
          <a:stretch>
            <a:fillRect/>
          </a:stretch>
        </p:blipFill>
        <p:spPr>
          <a:xfrm rot="0" flipH="false" flipV="false">
            <a:off x="7366000" y="1524000"/>
            <a:ext cx="4445000" cy="2476500"/>
          </a:xfrm>
          <a:prstGeom prst="rect">
            <a:avLst/>
          </a:prstGeom>
          <a:noFill/>
          <a:ln w="12700" cmpd="sng" cap="flat">
            <a:solidFill>
              <a:srgbClr val="FFFFFF">
                <a:alpha val="85000"/>
              </a:srgbClr>
            </a:solidFill>
            <a:prstDash val="solid"/>
            <a:round/>
          </a:ln>
        </p:spPr>
      </p:pic>
      <p:sp>
        <p:nvSpPr>
          <p:cNvPr name="AutoShape 30" id="30"/>
          <p:cNvSpPr/>
          <p:nvPr/>
        </p:nvSpPr>
        <p:spPr>
          <a:xfrm rot="0" flipH="false" flipV="false">
            <a:off x="7366000" y="4191000"/>
            <a:ext cx="4445000" cy="2222500"/>
          </a:xfrm>
          <a:prstGeom prst="roundRect">
            <a:avLst>
              <a:gd name="adj" fmla="val 0"/>
            </a:avLst>
          </a:prstGeom>
          <a:solidFill>
            <a:srgbClr val="1E1E23">
              <a:alpha val="9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7556500" y="4381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User-Centric Interface</a:t>
            </a:r>
            <a:endParaRPr lang="en-US" sz="1100"/>
          </a:p>
        </p:txBody>
      </p:sp>
      <p:sp>
        <p:nvSpPr>
          <p:cNvPr name="AutoShape 32" id="32"/>
          <p:cNvSpPr/>
          <p:nvPr/>
        </p:nvSpPr>
        <p:spPr>
          <a:xfrm rot="0" flipH="false" flipV="false">
            <a:off x="7556500" y="4953000"/>
            <a:ext cx="4064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DCDCDC"/>
                </a:solidFill>
                <a:latin typeface="Noto Sans SC"/>
                <a:ea typeface="Noto Sans SC"/>
                <a:cs typeface="Noto Sans SC"/>
                <a:sym typeface="Noto Sans SC"/>
              </a:rPr>
              <a:t>The intuitive web interface empowers users to upload audio files and trigger deepfake detection with a single click. Featuring real-time waveform visualization and a comprehensive multi-dimensional analysis report, it demystifies the AI anti-fraud process, making the results transparent, understandable, and actionable for end-users.</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Research Significance</a:t>
            </a:r>
            <a:endParaRPr lang="en-US" sz="1100"/>
          </a:p>
        </p:txBody>
      </p:sp>
      <p:sp>
        <p:nvSpPr>
          <p:cNvPr name="AutoShape 4" id="4"/>
          <p:cNvSpPr/>
          <p:nvPr/>
        </p:nvSpPr>
        <p:spPr>
          <a:xfrm rot="0" flipH="false" flipV="false">
            <a:off x="762000" y="1651000"/>
            <a:ext cx="3492500" cy="1841500"/>
          </a:xfrm>
          <a:prstGeom prst="roundRect">
            <a:avLst>
              <a:gd name="adj" fmla="val 0"/>
            </a:avLst>
          </a:prstGeom>
          <a:solidFill>
            <a:srgbClr val="1C232D">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0800" cy="1841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803400"/>
            <a:ext cx="304800" cy="304800"/>
          </a:xfrm>
          <a:prstGeom prst="rect">
            <a:avLst/>
          </a:prstGeom>
        </p:spPr>
      </p:pic>
      <p:sp>
        <p:nvSpPr>
          <p:cNvPr name="AutoShape 7" id="7"/>
          <p:cNvSpPr/>
          <p:nvPr/>
        </p:nvSpPr>
        <p:spPr>
          <a:xfrm rot="0" flipH="false" flipV="false">
            <a:off x="1397000" y="17780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AI Security &amp; Safety</a:t>
            </a:r>
            <a:endParaRPr lang="en-US" sz="1100"/>
          </a:p>
        </p:txBody>
      </p:sp>
      <p:sp>
        <p:nvSpPr>
          <p:cNvPr name="AutoShape 8" id="8"/>
          <p:cNvSpPr/>
          <p:nvPr/>
        </p:nvSpPr>
        <p:spPr>
          <a:xfrm rot="0" flipH="false" flipV="false">
            <a:off x="952500" y="2286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Proactively combating emerging adversarial threats to fortify the trustworthiness of AI systems in high-stakes environments.</a:t>
            </a:r>
            <a:endParaRPr lang="en-US" sz="1100"/>
          </a:p>
        </p:txBody>
      </p:sp>
      <p:sp>
        <p:nvSpPr>
          <p:cNvPr name="AutoShape 9" id="9"/>
          <p:cNvSpPr/>
          <p:nvPr/>
        </p:nvSpPr>
        <p:spPr>
          <a:xfrm rot="0" flipH="false" flipV="false">
            <a:off x="4445000" y="1651000"/>
            <a:ext cx="3492500" cy="1841500"/>
          </a:xfrm>
          <a:prstGeom prst="roundRect">
            <a:avLst>
              <a:gd name="adj" fmla="val 0"/>
            </a:avLst>
          </a:prstGeom>
          <a:solidFill>
            <a:srgbClr val="1C232D">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651000"/>
            <a:ext cx="50800" cy="1841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1803400"/>
            <a:ext cx="304800" cy="304800"/>
          </a:xfrm>
          <a:prstGeom prst="rect">
            <a:avLst/>
          </a:prstGeom>
        </p:spPr>
      </p:pic>
      <p:sp>
        <p:nvSpPr>
          <p:cNvPr name="AutoShape 12" id="12"/>
          <p:cNvSpPr/>
          <p:nvPr/>
        </p:nvSpPr>
        <p:spPr>
          <a:xfrm rot="0" flipH="false" flipV="false">
            <a:off x="5080000" y="17780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Voice Spoof Detection</a:t>
            </a:r>
            <a:endParaRPr lang="en-US" sz="1100"/>
          </a:p>
        </p:txBody>
      </p:sp>
      <p:sp>
        <p:nvSpPr>
          <p:cNvPr name="AutoShape 13" id="13"/>
          <p:cNvSpPr/>
          <p:nvPr/>
        </p:nvSpPr>
        <p:spPr>
          <a:xfrm rot="0" flipH="false" flipV="false">
            <a:off x="4635500" y="2286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Going beyond lab benchmark scores to focus on real-world robustness against unseen synthetic voices and environmental noise.</a:t>
            </a:r>
            <a:endParaRPr lang="en-US" sz="1100"/>
          </a:p>
        </p:txBody>
      </p:sp>
      <p:sp>
        <p:nvSpPr>
          <p:cNvPr name="AutoShape 14" id="14"/>
          <p:cNvSpPr/>
          <p:nvPr/>
        </p:nvSpPr>
        <p:spPr>
          <a:xfrm rot="0" flipH="false" flipV="false">
            <a:off x="8128000" y="1651000"/>
            <a:ext cx="3492500" cy="1841500"/>
          </a:xfrm>
          <a:prstGeom prst="roundRect">
            <a:avLst>
              <a:gd name="adj" fmla="val 0"/>
            </a:avLst>
          </a:prstGeom>
          <a:solidFill>
            <a:srgbClr val="1C232D">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651000"/>
            <a:ext cx="50800" cy="1841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1803400"/>
            <a:ext cx="304800" cy="304800"/>
          </a:xfrm>
          <a:prstGeom prst="rect">
            <a:avLst/>
          </a:prstGeom>
        </p:spPr>
      </p:pic>
      <p:sp>
        <p:nvSpPr>
          <p:cNvPr name="AutoShape 17" id="17"/>
          <p:cNvSpPr/>
          <p:nvPr/>
        </p:nvSpPr>
        <p:spPr>
          <a:xfrm rot="0" flipH="false" flipV="false">
            <a:off x="8763000" y="17780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Human-centered AI</a:t>
            </a:r>
            <a:endParaRPr lang="en-US" sz="1100"/>
          </a:p>
        </p:txBody>
      </p:sp>
      <p:sp>
        <p:nvSpPr>
          <p:cNvPr name="AutoShape 18" id="18"/>
          <p:cNvSpPr/>
          <p:nvPr/>
        </p:nvSpPr>
        <p:spPr>
          <a:xfrm rot="0" flipH="false" flipV="false">
            <a:off x="8318500" y="2286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Prioritizing the design of accessible and ethical AI technologies that protect and empower vulnerable populations.</a:t>
            </a:r>
            <a:endParaRPr lang="en-US" sz="1100"/>
          </a:p>
        </p:txBody>
      </p:sp>
      <p:sp>
        <p:nvSpPr>
          <p:cNvPr name="AutoShape 19" id="19"/>
          <p:cNvSpPr/>
          <p:nvPr/>
        </p:nvSpPr>
        <p:spPr>
          <a:xfrm rot="0" flipH="false" flipV="false">
            <a:off x="762000" y="3619500"/>
            <a:ext cx="3492500" cy="1841500"/>
          </a:xfrm>
          <a:prstGeom prst="roundRect">
            <a:avLst>
              <a:gd name="adj" fmla="val 0"/>
            </a:avLst>
          </a:prstGeom>
          <a:solidFill>
            <a:srgbClr val="1C232D">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3619500"/>
            <a:ext cx="50800" cy="1841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3771900"/>
            <a:ext cx="304800" cy="304800"/>
          </a:xfrm>
          <a:prstGeom prst="rect">
            <a:avLst/>
          </a:prstGeom>
        </p:spPr>
      </p:pic>
      <p:sp>
        <p:nvSpPr>
          <p:cNvPr name="AutoShape 22" id="22"/>
          <p:cNvSpPr/>
          <p:nvPr/>
        </p:nvSpPr>
        <p:spPr>
          <a:xfrm rot="0" flipH="false" flipV="false">
            <a:off x="1397000" y="37465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Explainable AI (XAI)</a:t>
            </a:r>
            <a:endParaRPr lang="en-US" sz="1100"/>
          </a:p>
        </p:txBody>
      </p:sp>
      <p:sp>
        <p:nvSpPr>
          <p:cNvPr name="AutoShape 23" id="23"/>
          <p:cNvSpPr/>
          <p:nvPr/>
        </p:nvSpPr>
        <p:spPr>
          <a:xfrm rot="0" flipH="false" flipV="false">
            <a:off x="952500" y="42545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Demystifying black-box decision-making processes to provide transparency, allowing stakeholders to understand and trust AI outputs.</a:t>
            </a:r>
            <a:endParaRPr lang="en-US" sz="1100"/>
          </a:p>
        </p:txBody>
      </p:sp>
      <p:sp>
        <p:nvSpPr>
          <p:cNvPr name="AutoShape 24" id="24"/>
          <p:cNvSpPr/>
          <p:nvPr/>
        </p:nvSpPr>
        <p:spPr>
          <a:xfrm rot="0" flipH="false" flipV="false">
            <a:off x="4445000" y="3619500"/>
            <a:ext cx="3492500" cy="1841500"/>
          </a:xfrm>
          <a:prstGeom prst="roundRect">
            <a:avLst>
              <a:gd name="adj" fmla="val 0"/>
            </a:avLst>
          </a:prstGeom>
          <a:solidFill>
            <a:srgbClr val="1C232D">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445000" y="3619500"/>
            <a:ext cx="50800" cy="1841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35500" y="3771900"/>
            <a:ext cx="304800" cy="304800"/>
          </a:xfrm>
          <a:prstGeom prst="rect">
            <a:avLst/>
          </a:prstGeom>
        </p:spPr>
      </p:pic>
      <p:sp>
        <p:nvSpPr>
          <p:cNvPr name="AutoShape 27" id="27"/>
          <p:cNvSpPr/>
          <p:nvPr/>
        </p:nvSpPr>
        <p:spPr>
          <a:xfrm rot="0" flipH="false" flipV="false">
            <a:off x="5080000" y="37465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Multimodal AI Systems</a:t>
            </a:r>
            <a:endParaRPr lang="en-US" sz="1100"/>
          </a:p>
        </p:txBody>
      </p:sp>
      <p:sp>
        <p:nvSpPr>
          <p:cNvPr name="AutoShape 28" id="28"/>
          <p:cNvSpPr/>
          <p:nvPr/>
        </p:nvSpPr>
        <p:spPr>
          <a:xfrm rot="0" flipH="false" flipV="false">
            <a:off x="4635500" y="42545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Integrating audio, textual, and contextual data streams to create synergistic defenses against sophisticated multi-vector attacks.</a:t>
            </a:r>
            <a:endParaRPr lang="en-US" sz="1100"/>
          </a:p>
        </p:txBody>
      </p:sp>
      <p:sp>
        <p:nvSpPr>
          <p:cNvPr name="AutoShape 29" id="29"/>
          <p:cNvSpPr/>
          <p:nvPr/>
        </p:nvSpPr>
        <p:spPr>
          <a:xfrm rot="0" flipH="false" flipV="false">
            <a:off x="8128000" y="3619500"/>
            <a:ext cx="3492500" cy="1841500"/>
          </a:xfrm>
          <a:prstGeom prst="roundRect">
            <a:avLst>
              <a:gd name="adj" fmla="val 0"/>
            </a:avLst>
          </a:prstGeom>
          <a:solidFill>
            <a:srgbClr val="22C55E">
              <a:alpha val="12000"/>
            </a:srgbClr>
          </a:solidFill>
          <a:ln w="12700" cmpd="sng" cap="flat">
            <a:solidFill>
              <a:srgbClr val="22C55E">
                <a:alpha val="5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318500" y="3771900"/>
            <a:ext cx="304800" cy="304800"/>
          </a:xfrm>
          <a:prstGeom prst="rect">
            <a:avLst/>
          </a:prstGeom>
        </p:spPr>
      </p:pic>
      <p:sp>
        <p:nvSpPr>
          <p:cNvPr name="AutoShape 31" id="31"/>
          <p:cNvSpPr/>
          <p:nvPr/>
        </p:nvSpPr>
        <p:spPr>
          <a:xfrm rot="0" flipH="false" flipV="false">
            <a:off x="8763000" y="37465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Critical Insight</a:t>
            </a:r>
            <a:endParaRPr lang="en-US" sz="1100"/>
          </a:p>
        </p:txBody>
      </p:sp>
      <p:sp>
        <p:nvSpPr>
          <p:cNvPr name="AutoShape 32" id="32"/>
          <p:cNvSpPr/>
          <p:nvPr/>
        </p:nvSpPr>
        <p:spPr>
          <a:xfrm rot="0" flipH="false" flipV="false">
            <a:off x="8318500" y="42545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5E7EB"/>
                </a:solidFill>
                <a:latin typeface="Noto Sans SC"/>
                <a:ea typeface="Noto Sans SC"/>
                <a:cs typeface="Noto Sans SC"/>
                <a:sym typeface="Noto Sans SC"/>
              </a:rPr>
              <a:t>Real-world security requires more than just low error rates.</a:t>
            </a:r>
            <a:r>
              <a:rPr lang="en-US" b="true" i="false" strike="noStrike" u="none" sz="1200">
                <a:solidFill>
                  <a:srgbClr val="22C55E"/>
                </a:solidFill>
                <a:latin typeface="Noto Sans SC"/>
                <a:ea typeface="Noto Sans SC"/>
                <a:cs typeface="Noto Sans SC"/>
                <a:sym typeface="Noto Sans SC"/>
              </a:rPr>
              <a:t>Generalization and adaptability</a:t>
            </a:r>
            <a:r>
              <a:rPr lang="en-US" b="false" i="false" strike="noStrike" u="none" sz="1200">
                <a:solidFill>
                  <a:srgbClr val="E5E7EB"/>
                </a:solidFill>
                <a:latin typeface="Noto Sans SC"/>
                <a:ea typeface="Noto Sans SC"/>
                <a:cs typeface="Noto Sans SC"/>
                <a:sym typeface="Noto Sans SC"/>
              </a:rPr>
              <a:t>are the unsolved pillars that determine the success of AI deployment.</a:t>
            </a:r>
            <a:endParaRPr lang="en-US" sz="1100"/>
          </a:p>
        </p:txBody>
      </p:sp>
      <p:sp>
        <p:nvSpPr>
          <p:cNvPr name="AutoShape 33" id="33"/>
          <p:cNvSpPr/>
          <p:nvPr/>
        </p:nvSpPr>
        <p:spPr>
          <a:xfrm rot="0" flipH="false" flipV="false">
            <a:off x="762000" y="5588000"/>
            <a:ext cx="10858500" cy="1079500"/>
          </a:xfrm>
          <a:prstGeom prst="roundRect">
            <a:avLst>
              <a:gd name="adj" fmla="val 0"/>
            </a:avLst>
          </a:prstGeom>
          <a:solidFill>
            <a:srgbClr val="0F172A">
              <a:alpha val="90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52500" y="5715000"/>
            <a:ext cx="406400" cy="406400"/>
          </a:xfrm>
          <a:prstGeom prst="rect">
            <a:avLst/>
          </a:prstGeom>
        </p:spPr>
      </p:pic>
      <p:sp>
        <p:nvSpPr>
          <p:cNvPr name="AutoShape 35" id="35"/>
          <p:cNvSpPr/>
          <p:nvPr/>
        </p:nvSpPr>
        <p:spPr>
          <a:xfrm rot="0" flipH="false" flipV="false">
            <a:off x="1587500" y="5651500"/>
            <a:ext cx="965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3F4F6"/>
                </a:solidFill>
                <a:latin typeface="Noto Sans SC"/>
                <a:ea typeface="Noto Sans SC"/>
                <a:cs typeface="Noto Sans SC"/>
                <a:sym typeface="Noto Sans SC"/>
              </a:rPr>
              <a:t>Achieving low benchmark EER alone is insufficient for real-world deployment. The project underscores that</a:t>
            </a:r>
            <a:r>
              <a:rPr lang="en-US" b="true" i="false" strike="noStrike" u="none" sz="1300">
                <a:solidFill>
                  <a:srgbClr val="22C55E"/>
                </a:solidFill>
                <a:latin typeface="Noto Sans SC"/>
                <a:ea typeface="Noto Sans SC"/>
                <a:cs typeface="Noto Sans SC"/>
                <a:sym typeface="Noto Sans SC"/>
              </a:rPr>
              <a:t>Robustness and generalization</a:t>
            </a:r>
            <a:r>
              <a:rPr lang="en-US" b="false" i="false" strike="noStrike" u="none" sz="1300">
                <a:solidFill>
                  <a:srgbClr val="F3F4F6"/>
                </a:solidFill>
                <a:latin typeface="Noto Sans SC"/>
                <a:ea typeface="Noto Sans SC"/>
                <a:cs typeface="Noto Sans SC"/>
                <a:sym typeface="Noto Sans SC"/>
              </a:rPr>
              <a:t>remain critical open challenges, demanding continuous innovation to bridge the gap between lab performance and real-world resilience.</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Future Work</a:t>
            </a:r>
            <a:endParaRPr lang="en-US" sz="1100"/>
          </a:p>
        </p:txBody>
      </p:sp>
      <p:sp>
        <p:nvSpPr>
          <p:cNvPr name="AutoShape 4" id="4"/>
          <p:cNvSpPr/>
          <p:nvPr/>
        </p:nvSpPr>
        <p:spPr>
          <a:xfrm rot="0" flipH="false" flipV="false">
            <a:off x="762000" y="1651000"/>
            <a:ext cx="3429000" cy="2095500"/>
          </a:xfrm>
          <a:prstGeom prst="roundRect">
            <a:avLst>
              <a:gd name="adj" fmla="val 0"/>
            </a:avLst>
          </a:prstGeom>
          <a:solidFill>
            <a:srgbClr val="14191E">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08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8034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Stronger Robustness Training</a:t>
            </a:r>
            <a:endParaRPr lang="en-US" sz="1100"/>
          </a:p>
        </p:txBody>
      </p:sp>
      <p:sp>
        <p:nvSpPr>
          <p:cNvPr name="AutoShape 7" id="7"/>
          <p:cNvSpPr/>
          <p:nvPr/>
        </p:nvSpPr>
        <p:spPr>
          <a:xfrm rot="0" flipH="false" flipV="false">
            <a:off x="952500" y="2413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D1D5DB"/>
                </a:solidFill>
                <a:latin typeface="Noto Sans SC"/>
                <a:ea typeface="Noto Sans SC"/>
                <a:cs typeface="Noto Sans SC"/>
                <a:sym typeface="Noto Sans SC"/>
              </a:rPr>
              <a:t>Develop more sophisticated training methodologies to handle unseen fake voice patterns. This involves exposing the model to diverse synthetic audio datasets to enhance its resilience against emerging and previously unknown deepfake generation techniques.</a:t>
            </a:r>
            <a:endParaRPr lang="en-US" sz="1100"/>
          </a:p>
        </p:txBody>
      </p:sp>
      <p:sp>
        <p:nvSpPr>
          <p:cNvPr name="AutoShape 8" id="8"/>
          <p:cNvSpPr/>
          <p:nvPr/>
        </p:nvSpPr>
        <p:spPr>
          <a:xfrm rot="0" flipH="false" flipV="false">
            <a:off x="4381500" y="1651000"/>
            <a:ext cx="3429000" cy="2095500"/>
          </a:xfrm>
          <a:prstGeom prst="roundRect">
            <a:avLst>
              <a:gd name="adj" fmla="val 0"/>
            </a:avLst>
          </a:prstGeom>
          <a:solidFill>
            <a:srgbClr val="14191E">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381500" y="1651000"/>
            <a:ext cx="508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572000" y="18034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Adversarial Spoof Detection</a:t>
            </a:r>
            <a:endParaRPr lang="en-US" sz="1100"/>
          </a:p>
        </p:txBody>
      </p:sp>
      <p:sp>
        <p:nvSpPr>
          <p:cNvPr name="AutoShape 11" id="11"/>
          <p:cNvSpPr/>
          <p:nvPr/>
        </p:nvSpPr>
        <p:spPr>
          <a:xfrm rot="0" flipH="false" flipV="false">
            <a:off x="4572000" y="2413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D1D5DB"/>
                </a:solidFill>
                <a:latin typeface="Noto Sans SC"/>
                <a:ea typeface="Noto Sans SC"/>
                <a:cs typeface="Noto Sans SC"/>
                <a:sym typeface="Noto Sans SC"/>
              </a:rPr>
              <a:t>Investigate the vulnerabilities of voice recognition systems to adversarial perturbations. Build proactive defense mechanisms that can identify and neutralize subtle, human-imperceptible modifications designed to bypass authentication or classification safeguards.</a:t>
            </a:r>
            <a:endParaRPr lang="en-US" sz="1100"/>
          </a:p>
        </p:txBody>
      </p:sp>
      <p:sp>
        <p:nvSpPr>
          <p:cNvPr name="AutoShape 12" id="12"/>
          <p:cNvSpPr/>
          <p:nvPr/>
        </p:nvSpPr>
        <p:spPr>
          <a:xfrm rot="0" flipH="false" flipV="false">
            <a:off x="8001000" y="1651000"/>
            <a:ext cx="3429000" cy="2095500"/>
          </a:xfrm>
          <a:prstGeom prst="roundRect">
            <a:avLst>
              <a:gd name="adj" fmla="val 0"/>
            </a:avLst>
          </a:prstGeom>
          <a:solidFill>
            <a:srgbClr val="14191E">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001000" y="1651000"/>
            <a:ext cx="508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91500" y="18034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Replay Attack Defense</a:t>
            </a:r>
            <a:endParaRPr lang="en-US" sz="1100"/>
          </a:p>
        </p:txBody>
      </p:sp>
      <p:sp>
        <p:nvSpPr>
          <p:cNvPr name="AutoShape 15" id="15"/>
          <p:cNvSpPr/>
          <p:nvPr/>
        </p:nvSpPr>
        <p:spPr>
          <a:xfrm rot="0" flipH="false" flipV="false">
            <a:off x="8191500" y="2413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D1D5DB"/>
                </a:solidFill>
                <a:latin typeface="Noto Sans SC"/>
                <a:ea typeface="Noto Sans SC"/>
                <a:cs typeface="Noto Sans SC"/>
                <a:sym typeface="Noto Sans SC"/>
              </a:rPr>
              <a:t>Refine algorithms to accurately detect voice recordings played over speakers in complex acoustic environments. Improve the system’s ability to distinguish between live human speech and replayed audio, even when masked by background noise or reverberation.</a:t>
            </a:r>
            <a:endParaRPr lang="en-US" sz="1100"/>
          </a:p>
        </p:txBody>
      </p:sp>
      <p:sp>
        <p:nvSpPr>
          <p:cNvPr name="AutoShape 16" id="16"/>
          <p:cNvSpPr/>
          <p:nvPr/>
        </p:nvSpPr>
        <p:spPr>
          <a:xfrm rot="0" flipH="false" flipV="false">
            <a:off x="762000" y="3937000"/>
            <a:ext cx="3429000" cy="2095500"/>
          </a:xfrm>
          <a:prstGeom prst="roundRect">
            <a:avLst>
              <a:gd name="adj" fmla="val 0"/>
            </a:avLst>
          </a:prstGeom>
          <a:solidFill>
            <a:srgbClr val="14191E">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937000"/>
            <a:ext cx="508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52500" y="40894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Multilingual Scam Analysis</a:t>
            </a:r>
            <a:endParaRPr lang="en-US" sz="1100"/>
          </a:p>
        </p:txBody>
      </p:sp>
      <p:sp>
        <p:nvSpPr>
          <p:cNvPr name="AutoShape 19" id="19"/>
          <p:cNvSpPr/>
          <p:nvPr/>
        </p:nvSpPr>
        <p:spPr>
          <a:xfrm rot="0" flipH="false" flipV="false">
            <a:off x="952500" y="4699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D1D5DB"/>
                </a:solidFill>
                <a:latin typeface="Noto Sans SC"/>
                <a:ea typeface="Noto Sans SC"/>
                <a:cs typeface="Noto Sans SC"/>
                <a:sym typeface="Noto Sans SC"/>
              </a:rPr>
              <a:t>Extend the detection framework to support multiple languages and regional dialects. Adapt the core model to recognize cultural and linguistic nuances in fraudulent speech patterns, enabling effective scam identification across global communication networks.</a:t>
            </a:r>
            <a:endParaRPr lang="en-US" sz="1100"/>
          </a:p>
        </p:txBody>
      </p:sp>
      <p:sp>
        <p:nvSpPr>
          <p:cNvPr name="AutoShape 20" id="20"/>
          <p:cNvSpPr/>
          <p:nvPr/>
        </p:nvSpPr>
        <p:spPr>
          <a:xfrm rot="0" flipH="false" flipV="false">
            <a:off x="4381500" y="3937000"/>
            <a:ext cx="3429000" cy="2095500"/>
          </a:xfrm>
          <a:prstGeom prst="roundRect">
            <a:avLst>
              <a:gd name="adj" fmla="val 0"/>
            </a:avLst>
          </a:prstGeom>
          <a:solidFill>
            <a:srgbClr val="14191E">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381500" y="3937000"/>
            <a:ext cx="508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572000" y="40894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Streaming Phone-Call Analysis</a:t>
            </a:r>
            <a:endParaRPr lang="en-US" sz="1100"/>
          </a:p>
        </p:txBody>
      </p:sp>
      <p:sp>
        <p:nvSpPr>
          <p:cNvPr name="AutoShape 23" id="23"/>
          <p:cNvSpPr/>
          <p:nvPr/>
        </p:nvSpPr>
        <p:spPr>
          <a:xfrm rot="0" flipH="false" flipV="false">
            <a:off x="4572000" y="4699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D1D5DB"/>
                </a:solidFill>
                <a:latin typeface="Noto Sans SC"/>
                <a:ea typeface="Noto Sans SC"/>
                <a:cs typeface="Noto Sans SC"/>
                <a:sym typeface="Noto Sans SC"/>
              </a:rPr>
              <a:t>Implement low-latency, real-time processing capabilities for live phone call streams. This feature allows for the dynamic monitoring and interception of suspicious activities during ongoing conversations, providing immediate alerts to prevent potential harm.</a:t>
            </a:r>
            <a:endParaRPr lang="en-US" sz="1100"/>
          </a:p>
        </p:txBody>
      </p:sp>
      <p:sp>
        <p:nvSpPr>
          <p:cNvPr name="AutoShape 24" id="24"/>
          <p:cNvSpPr/>
          <p:nvPr/>
        </p:nvSpPr>
        <p:spPr>
          <a:xfrm rot="0" flipH="false" flipV="false">
            <a:off x="8001000" y="3937000"/>
            <a:ext cx="3429000" cy="2095500"/>
          </a:xfrm>
          <a:prstGeom prst="roundRect">
            <a:avLst>
              <a:gd name="adj" fmla="val 0"/>
            </a:avLst>
          </a:prstGeom>
          <a:solidFill>
            <a:srgbClr val="14191E">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001000" y="3937000"/>
            <a:ext cx="508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191500" y="40894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Edge-Device Optimization</a:t>
            </a:r>
            <a:endParaRPr lang="en-US" sz="1100"/>
          </a:p>
        </p:txBody>
      </p:sp>
      <p:sp>
        <p:nvSpPr>
          <p:cNvPr name="AutoShape 27" id="27"/>
          <p:cNvSpPr/>
          <p:nvPr/>
        </p:nvSpPr>
        <p:spPr>
          <a:xfrm rot="0" flipH="false" flipV="false">
            <a:off x="8191500" y="46990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D1D5DB"/>
                </a:solidFill>
                <a:latin typeface="Noto Sans SC"/>
                <a:ea typeface="Noto Sans SC"/>
                <a:cs typeface="Noto Sans SC"/>
                <a:sym typeface="Noto Sans SC"/>
              </a:rPr>
              <a:t>Optimize the AI model for lightweight deployment on resource-constrained hardware such as smartphones and IoT devices. Reduce computational overhead while maintaining high accuracy, enabling offline detection capabilities without relying on constant cloud connectivity.</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Social Impact: Using AI for Social Good</a:t>
            </a:r>
            <a:endParaRPr lang="en-US" sz="1100"/>
          </a:p>
        </p:txBody>
      </p:sp>
      <p:sp>
        <p:nvSpPr>
          <p:cNvPr name="AutoShape 4" id="4"/>
          <p:cNvSpPr/>
          <p:nvPr/>
        </p:nvSpPr>
        <p:spPr>
          <a:xfrm rot="0" flipH="false" flipV="false">
            <a:off x="762000" y="1651000"/>
            <a:ext cx="3492500" cy="2857500"/>
          </a:xfrm>
          <a:prstGeom prst="roundRect">
            <a:avLst>
              <a:gd name="adj" fmla="val 0"/>
            </a:avLst>
          </a:prstGeom>
          <a:solidFill>
            <a:srgbClr val="1A1A1A">
              <a:alpha val="8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841500"/>
            <a:ext cx="31115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Core Motivation</a:t>
            </a:r>
            <a:endParaRPr lang="en-US" sz="1100"/>
          </a:p>
        </p:txBody>
      </p:sp>
      <p:sp>
        <p:nvSpPr>
          <p:cNvPr name="AutoShape 7" id="7"/>
          <p:cNvSpPr/>
          <p:nvPr/>
        </p:nvSpPr>
        <p:spPr>
          <a:xfrm rot="0" flipH="false" flipV="false">
            <a:off x="952500" y="2413000"/>
            <a:ext cx="3111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solidFill>
                <a:latin typeface="Noto Sans SC"/>
                <a:ea typeface="Noto Sans SC"/>
                <a:cs typeface="Noto Sans SC"/>
                <a:sym typeface="Noto Sans SC"/>
              </a:rPr>
              <a:t>GemmaShield was born from a deep social-good motivation: to deploy AI as a force for protection. Our goal is to shield elderly users from the rising tide of AI voice scams—sophisticated attacks that weaponize familiarity and trust to defraud vulnerable populations.</a:t>
            </a:r>
            <a:endParaRPr lang="en-US" sz="1100"/>
          </a:p>
        </p:txBody>
      </p:sp>
      <p:sp>
        <p:nvSpPr>
          <p:cNvPr name="AutoShape 8" id="8"/>
          <p:cNvSpPr/>
          <p:nvPr/>
        </p:nvSpPr>
        <p:spPr>
          <a:xfrm rot="0" flipH="false" flipV="false">
            <a:off x="4470400" y="1651000"/>
            <a:ext cx="3492500" cy="2857500"/>
          </a:xfrm>
          <a:prstGeom prst="roundRect">
            <a:avLst>
              <a:gd name="adj" fmla="val 0"/>
            </a:avLst>
          </a:prstGeom>
          <a:solidFill>
            <a:srgbClr val="1A1A1A">
              <a:alpha val="8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704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60900" y="1841500"/>
            <a:ext cx="31115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Future Importance</a:t>
            </a:r>
            <a:endParaRPr lang="en-US" sz="1100"/>
          </a:p>
        </p:txBody>
      </p:sp>
      <p:sp>
        <p:nvSpPr>
          <p:cNvPr name="AutoShape 11" id="11"/>
          <p:cNvSpPr/>
          <p:nvPr/>
        </p:nvSpPr>
        <p:spPr>
          <a:xfrm rot="0" flipH="false" flipV="false">
            <a:off x="4660900" y="2413000"/>
            <a:ext cx="3111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solidFill>
                <a:latin typeface="Noto Sans SC"/>
                <a:ea typeface="Noto Sans SC"/>
                <a:cs typeface="Noto Sans SC"/>
                <a:sym typeface="Noto Sans SC"/>
              </a:rPr>
              <a:t>As AI voice cloning becomes more accessible and realistic, proactive defense systems like GemmaShield are critical. We envision this as a cornerstone of future digital safety infrastructure, providing scalable, adaptive protection for individuals and communities against evolving synthetic media threats.</a:t>
            </a:r>
            <a:endParaRPr lang="en-US" sz="1100"/>
          </a:p>
        </p:txBody>
      </p:sp>
      <p:sp>
        <p:nvSpPr>
          <p:cNvPr name="AutoShape 12" id="12"/>
          <p:cNvSpPr/>
          <p:nvPr/>
        </p:nvSpPr>
        <p:spPr>
          <a:xfrm rot="0" flipH="false" flipV="false">
            <a:off x="8191500" y="1651000"/>
            <a:ext cx="3492500" cy="2857500"/>
          </a:xfrm>
          <a:prstGeom prst="roundRect">
            <a:avLst>
              <a:gd name="adj" fmla="val 0"/>
            </a:avLst>
          </a:prstGeom>
          <a:solidFill>
            <a:srgbClr val="22C55E">
              <a:alpha val="14000"/>
            </a:srgbClr>
          </a:solidFill>
          <a:ln w="12700" cmpd="sng" cap="flat">
            <a:solidFill>
              <a:srgbClr val="22C55E">
                <a:alpha val="5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91500" y="1651000"/>
            <a:ext cx="34925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841500"/>
            <a:ext cx="31115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Project Submission</a:t>
            </a:r>
            <a:endParaRPr lang="en-US" sz="1100"/>
          </a:p>
        </p:txBody>
      </p:sp>
      <p:pic>
        <p:nvPicPr>
          <p:cNvPr name="Picture 15" id="1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382000" y="2540000"/>
            <a:ext cx="203200" cy="203200"/>
          </a:xfrm>
          <a:prstGeom prst="rect">
            <a:avLst/>
          </a:prstGeom>
        </p:spPr>
      </p:pic>
      <p:sp>
        <p:nvSpPr>
          <p:cNvPr name="AutoShape 16" id="16"/>
          <p:cNvSpPr/>
          <p:nvPr/>
        </p:nvSpPr>
        <p:spPr>
          <a:xfrm rot="0" flipH="false" flipV="false">
            <a:off x="8661400" y="25146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F0F0F0"/>
                </a:solidFill>
                <a:latin typeface="Noto Sans SC"/>
                <a:ea typeface="Noto Sans SC"/>
                <a:cs typeface="Noto Sans SC"/>
                <a:sym typeface="Noto Sans SC"/>
              </a:rPr>
              <a:t>Complete Source Code Repository</a:t>
            </a:r>
            <a:endParaRPr lang="en-US" sz="1100"/>
          </a:p>
        </p:txBody>
      </p:sp>
      <p:pic>
        <p:nvPicPr>
          <p:cNvPr name="Picture 17" id="1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382000" y="3048000"/>
            <a:ext cx="203200" cy="203200"/>
          </a:xfrm>
          <a:prstGeom prst="rect">
            <a:avLst/>
          </a:prstGeom>
        </p:spPr>
      </p:pic>
      <p:sp>
        <p:nvSpPr>
          <p:cNvPr name="AutoShape 18" id="18"/>
          <p:cNvSpPr/>
          <p:nvPr/>
        </p:nvSpPr>
        <p:spPr>
          <a:xfrm rot="0" flipH="false" flipV="false">
            <a:off x="8661400" y="30226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F0F0F0"/>
                </a:solidFill>
                <a:latin typeface="Noto Sans SC"/>
                <a:ea typeface="Noto Sans SC"/>
                <a:cs typeface="Noto Sans SC"/>
                <a:sym typeface="Noto Sans SC"/>
              </a:rPr>
              <a:t>5-Minute System Demo Video</a:t>
            </a:r>
            <a:endParaRPr lang="en-US" sz="1100"/>
          </a:p>
        </p:txBody>
      </p:sp>
      <p:pic>
        <p:nvPicPr>
          <p:cNvPr name="Picture 19" id="1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382000" y="3556000"/>
            <a:ext cx="203200" cy="203200"/>
          </a:xfrm>
          <a:prstGeom prst="rect">
            <a:avLst/>
          </a:prstGeom>
        </p:spPr>
      </p:pic>
      <p:sp>
        <p:nvSpPr>
          <p:cNvPr name="AutoShape 20" id="20"/>
          <p:cNvSpPr/>
          <p:nvPr/>
        </p:nvSpPr>
        <p:spPr>
          <a:xfrm rot="0" flipH="false" flipV="false">
            <a:off x="8661400" y="35306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F0F0F0"/>
                </a:solidFill>
                <a:latin typeface="Noto Sans SC"/>
                <a:ea typeface="Noto Sans SC"/>
                <a:cs typeface="Noto Sans SC"/>
                <a:sym typeface="Noto Sans SC"/>
              </a:rPr>
              <a:t>Comprehensive Technical Report</a:t>
            </a:r>
            <a:endParaRPr lang="en-US" sz="1100"/>
          </a:p>
        </p:txBody>
      </p:sp>
      <p:sp>
        <p:nvSpPr>
          <p:cNvPr name="AutoShape 21" id="21"/>
          <p:cNvSpPr/>
          <p:nvPr/>
        </p:nvSpPr>
        <p:spPr>
          <a:xfrm rot="0" flipH="false" flipV="false">
            <a:off x="762000" y="4762500"/>
            <a:ext cx="10922000" cy="1651000"/>
          </a:xfrm>
          <a:prstGeom prst="roundRect">
            <a:avLst>
              <a:gd name="adj" fmla="val 0"/>
            </a:avLst>
          </a:prstGeom>
          <a:solidFill>
            <a:srgbClr val="0F0F0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62000" y="4762500"/>
            <a:ext cx="50800" cy="1651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1016000" y="4889500"/>
            <a:ext cx="10287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E2E8F0"/>
                </a:solidFill>
                <a:latin typeface="Noto Sans SC"/>
                <a:ea typeface="Noto Sans SC"/>
                <a:cs typeface="Noto Sans SC"/>
                <a:sym typeface="Noto Sans SC"/>
              </a:rPr>
              <a:t>Our mission is to transform cutting-edge AI technology into a shield for society. By combining technical innovation with ethical responsibility, we aim to build a safer digital future where technology empowers protection, not exploitation. GemmaShield is more than a project—it is a blueprint for how AI can be harnessed to defend the most vulnerable members of our community against emerging digital threats.</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2667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Poppins"/>
                <a:ea typeface="Poppins"/>
                <a:cs typeface="Poppins"/>
                <a:sym typeface="Poppins"/>
              </a:rPr>
              <a:t>Thank You</a:t>
            </a:r>
            <a:endParaRPr lang="en-US" sz="1100"/>
          </a:p>
        </p:txBody>
      </p:sp>
      <p:sp>
        <p:nvSpPr>
          <p:cNvPr name="AutoShape 3" id="3"/>
          <p:cNvSpPr/>
          <p:nvPr/>
        </p:nvSpPr>
        <p:spPr>
          <a:xfrm rot="0" flipH="false" flipV="false">
            <a:off x="0" y="4064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spc="300">
                <a:solidFill>
                  <a:srgbClr val="FFFFFF">
                    <a:alpha val="94902"/>
                  </a:srgbClr>
                </a:solidFill>
                <a:latin typeface="Poppins"/>
                <a:ea typeface="Poppins"/>
                <a:cs typeface="Poppins"/>
                <a:sym typeface="Poppins"/>
              </a:rPr>
              <a:t>Q &amp; A</a:t>
            </a:r>
            <a:endParaRPr lang="en-US" sz="1100"/>
          </a:p>
        </p:txBody>
      </p:sp>
      <p:pic>
        <p:nvPicPr>
          <p:cNvPr name="Picture 4" id="4"/>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{"Label":"1","ContentProducer":"001191110102MACQD9K64010000","ProduceID":"7645174426883345369","ReservedCode1":"","ContentPropagator":"","PropagateID":"","ReservedCode2":""}</vt:lpwstr>
  </property>
</Properties>
</file>